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6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4"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5"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6"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8FD5169-8127-4B36-B2AC-9EAADCFBB87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ldImg"/>
          </p:nvPr>
        </p:nvSpPr>
        <p:spPr>
          <a:xfrm>
            <a:off x="1143000" y="685800"/>
            <a:ext cx="4571640" cy="3428640"/>
          </a:xfrm>
          <a:prstGeom prst="rect">
            <a:avLst/>
          </a:prstGeom>
          <a:ln w="0">
            <a:noFill/>
          </a:ln>
        </p:spPr>
      </p:sp>
      <p:sp>
        <p:nvSpPr>
          <p:cNvPr id="7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I'm going to introduce my co-presenter today: Antigravity.</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It's a desktop-based Agentic AI running right now, and it's going to help me run this shitshow.</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If you're still copy-pasting your code into a ChatGPT web browser like it's 2023, you're doing it wrong and wasting your time. You need tools that live in your workspace, read your local files, and actually know what the fuck is going on in your org.</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ASK THE AUDIENCE: HOW MANY OF YOU ARE STILL COPY-PASTING ORG ERRORS INTO A BROWSER TAB LIKE A CHOOCH? ***</a:t>
            </a:r>
            <a:endParaRPr lang="en-US" sz="2000" b="0" u="none" strike="noStrike">
              <a:solidFill>
                <a:srgbClr val="000000"/>
              </a:solidFill>
              <a:effectLst/>
              <a:uFillTx/>
              <a:latin typeface="Arial"/>
            </a:endParaRPr>
          </a:p>
        </p:txBody>
      </p:sp>
      <p:sp>
        <p:nvSpPr>
          <p:cNvPr id="79"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A311138-BB06-464A-B1D0-98EE0141D99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sldImg"/>
          </p:nvPr>
        </p:nvSpPr>
        <p:spPr>
          <a:xfrm>
            <a:off x="1143000" y="685800"/>
            <a:ext cx="4571640" cy="3428640"/>
          </a:xfrm>
          <a:prstGeom prst="rect">
            <a:avLst/>
          </a:prstGeom>
          <a:ln w="0">
            <a:noFill/>
          </a:ln>
        </p:spPr>
      </p:sp>
      <p:sp>
        <p:nvSpPr>
          <p:cNvPr id="8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Enterprise AI licensing is a massive rip-off.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You don't need to pay some billionaire a monthly fee just so your sales team can ask a chatbot a question. We use LibreChat. It's an open-source, DIY frontend. We connect it to Salesforce using the MCP, meaning it respects your existing security rules, but you don't pay a dime in platform fees for the interface. Let's have Antigravity spin this up right now.</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POST-DEMO ENGAGEMENT: HOW MUCH MONEY WOULD YOUR ORG SAVE IF YOU DUMPED YOUR OVERPRICED VENDOR AI LICENSES FOR THIS? ***</a:t>
            </a:r>
            <a:endParaRPr lang="en-US" sz="2000" b="0" u="none" strike="noStrike">
              <a:solidFill>
                <a:srgbClr val="000000"/>
              </a:solidFill>
              <a:effectLst/>
              <a:uFillTx/>
              <a:latin typeface="Arial"/>
            </a:endParaRPr>
          </a:p>
        </p:txBody>
      </p:sp>
      <p:sp>
        <p:nvSpPr>
          <p:cNvPr id="82"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D63931B-50C5-44F5-BD69-302DF104CCB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1143000" y="685800"/>
            <a:ext cx="4571640" cy="3428640"/>
          </a:xfrm>
          <a:prstGeom prst="rect">
            <a:avLst/>
          </a:prstGeom>
          <a:ln w="0">
            <a:noFill/>
          </a:ln>
        </p:spPr>
      </p:sp>
      <p:sp>
        <p:nvSpPr>
          <p:cNvPr id="8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Let's talk about the elephant in the room: Agentforce.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It's a scam. Salesforce is wrapping basic generative AI in a bloated, rigid industry cloud just to trap you in consumption billing. It's an over-engineered piece of shit for most of your daily use cases. You don't need to buy their massive, locked-down monolith. You just need to build the 'glue' between your data and an LLM.</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ASK THE AUDIENCE: WHO HERE FEELS LIKE AGENTFORCE IS JUST ANOTHER EXCUSE TO JACK UP YOUR RENEWAL INVOICE? ***</a:t>
            </a:r>
            <a:endParaRPr lang="en-US" sz="2000" b="0" u="none" strike="noStrike">
              <a:solidFill>
                <a:srgbClr val="000000"/>
              </a:solidFill>
              <a:effectLst/>
              <a:uFillTx/>
              <a:latin typeface="Arial"/>
            </a:endParaRPr>
          </a:p>
        </p:txBody>
      </p:sp>
      <p:sp>
        <p:nvSpPr>
          <p:cNvPr id="85"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BB53619-149F-4F33-88E4-F53F1C1B70C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sldImg"/>
          </p:nvPr>
        </p:nvSpPr>
        <p:spPr>
          <a:xfrm>
            <a:off x="1143000" y="685800"/>
            <a:ext cx="4571640" cy="3428640"/>
          </a:xfrm>
          <a:prstGeom prst="rect">
            <a:avLst/>
          </a:prstGeom>
          <a:ln w="0">
            <a:noFill/>
          </a:ln>
        </p:spPr>
      </p:sp>
      <p:sp>
        <p:nvSpPr>
          <p:cNvPr id="8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[Demo Action Plan]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1. Antigravity Helper: Showcase the 5-lwc-chatbot code.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2. Explain: 'Instead of paying for Agentforce, we had an AI desktop agent write the Apex Callout and LWC for us.'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3. Demo the chatbot living natively inside Salesforce.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We built this natively inside the platform using our own API callouts. It took an afternoon using Antigravity, and it costs a fraction of a penny per API call instead of whatever ridiculous fee Salesforce wants to charge you.</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POST-DEMO CHECK: DO YOU SEE WHY BUILDING YOUR OWN HYBRID GLUE BEATS PAYING FOR THEIR BLOATED ADD-ONS? ***</a:t>
            </a:r>
            <a:endParaRPr lang="en-US" sz="2000" b="0" u="none" strike="noStrike">
              <a:solidFill>
                <a:srgbClr val="000000"/>
              </a:solidFill>
              <a:effectLst/>
              <a:uFillTx/>
              <a:latin typeface="Arial"/>
            </a:endParaRPr>
          </a:p>
        </p:txBody>
      </p:sp>
      <p:sp>
        <p:nvSpPr>
          <p:cNvPr id="88"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240F030-40BE-4EBA-8BBB-59DC2D416C8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1143000" y="685800"/>
            <a:ext cx="4571640" cy="3428640"/>
          </a:xfrm>
          <a:prstGeom prst="rect">
            <a:avLst/>
          </a:prstGeom>
          <a:ln w="0">
            <a:noFill/>
          </a:ln>
        </p:spPr>
      </p:sp>
      <p:sp>
        <p:nvSpPr>
          <p:cNvPr id="9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Arial"/>
              </a:rPr>
              <a:t>We just tore down the corporate AI marketing bullshit. Now it's your turn. Ask your questions, and my AI co-host Antigravity is going to answer them live on screen. Let's see if this thing is actually as smart as it thinks it is.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 OPEN THE FLOOR: WHAT QUESTIONS DO YOU HAVE ABOUT STICKING IT TO THE MAN WITH LOCAL AGENTS? ***</a:t>
            </a:r>
            <a:endParaRPr lang="en-US" sz="2000" b="0" u="none" strike="noStrike">
              <a:solidFill>
                <a:srgbClr val="000000"/>
              </a:solidFill>
              <a:effectLst/>
              <a:uFillTx/>
              <a:latin typeface="Arial"/>
            </a:endParaRPr>
          </a:p>
        </p:txBody>
      </p:sp>
      <p:sp>
        <p:nvSpPr>
          <p:cNvPr id="91"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DB4568-D1F6-4DD2-8887-477F1D110DC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02E6380-57E5-46BE-A991-BD27E002244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A91838-A04D-4B88-95BB-B33A131C1955}"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444B2E14-699F-4EAE-8EE2-73FB6D82DC21}"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8C4BC5A-E975-48E6-938B-7C5E99E96EED}"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07E8B14-8C30-43C6-BA5D-D76734D8D1C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6853032-DAFB-4399-8655-999731D208B7}"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10D9C572-58A9-4B3E-AA7F-65B87DCF9784}"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C4BD443-A6AD-4D15-972D-EDA7A63C9E4A}"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7F30514-F963-4E85-917D-C96442A4537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48" name="PlaceHolder 5"/>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AEB8A09-2714-4ED8-B160-2CC4072D6DBC}"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56" name="PlaceHolder 2"/>
          <p:cNvSpPr>
            <a:spLocks noGrp="1"/>
          </p:cNvSpPr>
          <p:nvPr>
            <p:ph type="pic"/>
          </p:nvPr>
        </p:nvSpPr>
        <p:spPr>
          <a:xfrm>
            <a:off x="1792440" y="612720"/>
            <a:ext cx="5486040" cy="4114440"/>
          </a:xfrm>
          <a:prstGeom prst="rect">
            <a:avLst/>
          </a:prstGeom>
          <a:noFill/>
          <a:ln w="0">
            <a:noFill/>
          </a:ln>
        </p:spPr>
        <p:txBody>
          <a:bodyPr lIns="90000" tIns="45000" rIns="90000" bIns="45000" anchor="t">
            <a:noAutofit/>
          </a:bodyPr>
          <a:p>
            <a:pPr indent="0" algn="l">
              <a:buNone/>
            </a:pPr>
            <a:r>
              <a:rPr lang="en-US" sz="3200" b="0" u="none" strike="noStrike">
                <a:solidFill>
                  <a:srgbClr val="000000"/>
                </a:solidFill>
                <a:effectLst/>
                <a:uFillTx/>
                <a:latin typeface="Arial"/>
              </a:rPr>
              <a:t>Double-click to add an Image</a:t>
            </a:r>
            <a:endParaRPr lang="en-US" sz="3200" b="0" u="none" strike="noStrike">
              <a:solidFill>
                <a:srgbClr val="000000"/>
              </a:solidFill>
              <a:effectLst/>
              <a:uFillTx/>
              <a:latin typeface="Arial"/>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0972042-D15B-4AC6-B728-6DE250CB3F3B}"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 name="TextBox 1"/>
          <p:cNvSpPr/>
          <p:nvPr/>
        </p:nvSpPr>
        <p:spPr>
          <a:xfrm>
            <a:off x="457200" y="457200"/>
            <a:ext cx="822924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000" b="0" u="none" strike="noStrike">
                <a:solidFill>
                  <a:srgbClr val="000000"/>
                </a:solidFill>
                <a:effectLst/>
                <a:uFillTx/>
                <a:latin typeface="Impact"/>
              </a:rPr>
              <a:t>AI ON ZERO DOLLARS</a:t>
            </a:r>
            <a:endParaRPr lang="en-US" sz="6000" b="0" u="none" strike="noStrike">
              <a:solidFill>
                <a:srgbClr val="000000"/>
              </a:solidFill>
              <a:effectLst/>
              <a:uFillTx/>
              <a:latin typeface="Arial"/>
            </a:endParaRPr>
          </a:p>
        </p:txBody>
      </p:sp>
      <p:sp>
        <p:nvSpPr>
          <p:cNvPr id="68" name="TextBox 2"/>
          <p:cNvSpPr/>
          <p:nvPr/>
        </p:nvSpPr>
        <p:spPr>
          <a:xfrm>
            <a:off x="457200" y="2743200"/>
            <a:ext cx="8229240" cy="3657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r>
              <a:rPr lang="en-US" sz="2400" b="1" u="none" strike="noStrike">
                <a:solidFill>
                  <a:srgbClr val="000000"/>
                </a:solidFill>
                <a:effectLst/>
                <a:uFillTx/>
                <a:latin typeface="Courier New"/>
              </a:rPr>
              <a:t>DESKTOP AGENTS &amp; THE DIY ADMIN</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TextBox 1"/>
          <p:cNvSpPr/>
          <p:nvPr/>
        </p:nvSpPr>
        <p:spPr>
          <a:xfrm>
            <a:off x="457200" y="457200"/>
            <a:ext cx="822924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000" b="0" u="none" strike="noStrike">
                <a:solidFill>
                  <a:srgbClr val="000000"/>
                </a:solidFill>
                <a:effectLst/>
                <a:uFillTx/>
                <a:latin typeface="Impact"/>
              </a:rPr>
              <a:t>DEMO 1: LIBRECHAT</a:t>
            </a:r>
            <a:br>
              <a:rPr sz="6000"/>
            </a:br>
            <a:r>
              <a:rPr lang="en-US" sz="6000" b="0" u="none" strike="noStrike">
                <a:solidFill>
                  <a:srgbClr val="000000"/>
                </a:solidFill>
                <a:effectLst/>
                <a:uFillTx/>
                <a:latin typeface="Impact"/>
              </a:rPr>
              <a:t>(ANTI-ENTERPRISE CHAT)</a:t>
            </a:r>
            <a:endParaRPr lang="en-US" sz="6000" b="0" u="none" strike="noStrike">
              <a:solidFill>
                <a:srgbClr val="000000"/>
              </a:solidFill>
              <a:effectLst/>
              <a:uFillTx/>
              <a:latin typeface="Arial"/>
            </a:endParaRPr>
          </a:p>
        </p:txBody>
      </p:sp>
      <p:sp>
        <p:nvSpPr>
          <p:cNvPr id="70" name="TextBox 2"/>
          <p:cNvSpPr/>
          <p:nvPr/>
        </p:nvSpPr>
        <p:spPr>
          <a:xfrm>
            <a:off x="457200" y="3429360"/>
            <a:ext cx="8229240" cy="3657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r>
              <a:rPr lang="en-US" sz="2400" b="1" u="none" strike="noStrike">
                <a:solidFill>
                  <a:srgbClr val="000000"/>
                </a:solidFill>
                <a:effectLst/>
                <a:uFillTx/>
                <a:latin typeface="Courier New"/>
              </a:rPr>
              <a:t>HOST IT YOURSELF.</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CONTROL YOUR MODELS.</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KEEP YOUR DATA SOVEREIGN.</a:t>
            </a:r>
            <a:endParaRPr lang="en-US" sz="2400" b="0" u="none" strike="noStrike">
              <a:solidFill>
                <a:srgbClr val="000000"/>
              </a:solidFill>
              <a:effectLst/>
              <a:uFillTx/>
              <a:latin typeface="Arial"/>
            </a:endParaRPr>
          </a:p>
          <a:p>
            <a:pPr defTabSz="457200">
              <a:lnSpc>
                <a:spcPct val="100000"/>
              </a:lnSpc>
              <a:spcAft>
                <a:spcPts val="1400"/>
              </a:spcAft>
            </a:pP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CONNECT IT TO SALESFORCE VIA THE</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MODEL CONTEXT PROTOCOL (MCP).</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 name="TextBox 1"/>
          <p:cNvSpPr/>
          <p:nvPr/>
        </p:nvSpPr>
        <p:spPr>
          <a:xfrm>
            <a:off x="457200" y="457200"/>
            <a:ext cx="822924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000" b="0" u="none" strike="noStrike">
                <a:solidFill>
                  <a:srgbClr val="000000"/>
                </a:solidFill>
                <a:effectLst/>
                <a:uFillTx/>
                <a:latin typeface="Impact"/>
              </a:rPr>
              <a:t>WHY NOT AGENTFORCE?</a:t>
            </a:r>
            <a:endParaRPr lang="en-US" sz="6000" b="0" u="none" strike="noStrike">
              <a:solidFill>
                <a:srgbClr val="000000"/>
              </a:solidFill>
              <a:effectLst/>
              <a:uFillTx/>
              <a:latin typeface="Arial"/>
            </a:endParaRPr>
          </a:p>
        </p:txBody>
      </p:sp>
      <p:sp>
        <p:nvSpPr>
          <p:cNvPr id="72" name="TextBox 2"/>
          <p:cNvSpPr/>
          <p:nvPr/>
        </p:nvSpPr>
        <p:spPr>
          <a:xfrm>
            <a:off x="457200" y="2743200"/>
            <a:ext cx="8229240" cy="3657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r>
              <a:rPr lang="en-US" sz="2400" b="1" u="none" strike="noStrike">
                <a:solidFill>
                  <a:srgbClr val="000000"/>
                </a:solidFill>
                <a:effectLst/>
                <a:uFillTx/>
                <a:latin typeface="Courier New"/>
              </a:rPr>
              <a:t>OVER-ENGINEERED WRAPPER</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DESIGNED FOR VENDOR LOCK-IN AND CONSUMPTION BILLING</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MONOLITH SOLUTION WITH LIMITED AUDIENCE</a:t>
            </a: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FOCUS ON GLUE, NOT MARKETING</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TextBox 1"/>
          <p:cNvSpPr/>
          <p:nvPr/>
        </p:nvSpPr>
        <p:spPr>
          <a:xfrm>
            <a:off x="457200" y="457200"/>
            <a:ext cx="822924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000" b="0" u="none" strike="noStrike">
                <a:solidFill>
                  <a:srgbClr val="000000"/>
                </a:solidFill>
                <a:effectLst/>
                <a:uFillTx/>
                <a:latin typeface="Impact"/>
              </a:rPr>
              <a:t>DEMO 2: CUSTOM LWC CHATBOT</a:t>
            </a:r>
            <a:endParaRPr lang="en-US" sz="6000" b="0" u="none" strike="noStrike">
              <a:solidFill>
                <a:srgbClr val="000000"/>
              </a:solidFill>
              <a:effectLst/>
              <a:uFillTx/>
              <a:latin typeface="Arial"/>
            </a:endParaRPr>
          </a:p>
        </p:txBody>
      </p:sp>
      <p:sp>
        <p:nvSpPr>
          <p:cNvPr id="74" name="TextBox 2"/>
          <p:cNvSpPr/>
          <p:nvPr/>
        </p:nvSpPr>
        <p:spPr>
          <a:xfrm>
            <a:off x="457200" y="2743200"/>
            <a:ext cx="8229240" cy="3657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r>
              <a:rPr lang="en-US" sz="2400" b="1" u="none" strike="noStrike">
                <a:solidFill>
                  <a:srgbClr val="000000"/>
                </a:solidFill>
                <a:effectLst/>
                <a:uFillTx/>
                <a:latin typeface="Courier New"/>
              </a:rPr>
              <a:t>SCENARIO: WE NEED NATIVE AI WITHOUT THE AGENTFORCE PRICE TAG.</a:t>
            </a:r>
            <a:endParaRPr lang="en-US" sz="2400" b="0" u="none" strike="noStrike">
              <a:solidFill>
                <a:srgbClr val="000000"/>
              </a:solidFill>
              <a:effectLst/>
              <a:uFillTx/>
              <a:latin typeface="Arial"/>
            </a:endParaRPr>
          </a:p>
          <a:p>
            <a:pPr defTabSz="457200">
              <a:lnSpc>
                <a:spcPct val="100000"/>
              </a:lnSpc>
              <a:spcAft>
                <a:spcPts val="1400"/>
              </a:spcAft>
            </a:pPr>
            <a:endParaRPr lang="en-US" sz="2400" b="0" u="none" strike="noStrike">
              <a:solidFill>
                <a:srgbClr val="000000"/>
              </a:solidFill>
              <a:effectLst/>
              <a:uFillTx/>
              <a:latin typeface="Arial"/>
            </a:endParaRPr>
          </a:p>
          <a:p>
            <a:pPr defTabSz="457200">
              <a:lnSpc>
                <a:spcPct val="100000"/>
              </a:lnSpc>
              <a:spcAft>
                <a:spcPts val="1400"/>
              </a:spcAft>
            </a:pPr>
            <a:r>
              <a:rPr lang="en-US" sz="2400" b="1" u="none" strike="noStrike">
                <a:solidFill>
                  <a:srgbClr val="000000"/>
                </a:solidFill>
                <a:effectLst/>
                <a:uFillTx/>
                <a:latin typeface="Courier New"/>
              </a:rPr>
              <a:t>SOLUTION: CUSTOM LIGHTNING WEB COMPONENT + INSERT LLM API(S) HERE.</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TextBox 1"/>
          <p:cNvSpPr/>
          <p:nvPr/>
        </p:nvSpPr>
        <p:spPr>
          <a:xfrm>
            <a:off x="457200" y="457200"/>
            <a:ext cx="8229240" cy="18284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6000" b="0" u="none" strike="noStrike">
                <a:solidFill>
                  <a:srgbClr val="000000"/>
                </a:solidFill>
                <a:effectLst/>
                <a:uFillTx/>
                <a:latin typeface="Impact"/>
              </a:rPr>
              <a:t>LIVE Q&amp;A WITH ANTIGRAVITY</a:t>
            </a:r>
            <a:endParaRPr lang="en-US" sz="6000" b="0" u="none" strike="noStrike">
              <a:solidFill>
                <a:srgbClr val="000000"/>
              </a:solidFill>
              <a:effectLst/>
              <a:uFillTx/>
              <a:latin typeface="Arial"/>
            </a:endParaRPr>
          </a:p>
        </p:txBody>
      </p:sp>
      <p:sp>
        <p:nvSpPr>
          <p:cNvPr id="76" name="TextBox 2"/>
          <p:cNvSpPr/>
          <p:nvPr/>
        </p:nvSpPr>
        <p:spPr>
          <a:xfrm>
            <a:off x="457200" y="2743200"/>
            <a:ext cx="8229240" cy="365724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spcAft>
                <a:spcPts val="1400"/>
              </a:spcAft>
            </a:pPr>
            <a:r>
              <a:rPr lang="en-US" sz="2400" b="1" u="none" strike="noStrike">
                <a:solidFill>
                  <a:srgbClr val="000000"/>
                </a:solidFill>
                <a:effectLst/>
                <a:uFillTx/>
                <a:latin typeface="Courier New"/>
              </a:rPr>
              <a:t>ASK YOUR QUESTIONS, AND MY AI HELPER WILL ANSWER LIVE.</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itchFamily="0" charset="1"/>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LibreOffice/26.8.0.3$Linux_X86_64 LibreOffice_project/bce0998afefdbc355585ca324285661a2170ba77</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2026-09-06T22:55:21Z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