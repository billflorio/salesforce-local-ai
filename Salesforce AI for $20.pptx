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Roboto"/>
      <p:regular r:id="rId32"/>
      <p:bold r:id="rId33"/>
      <p:italic r:id="rId34"/>
      <p:boldItalic r:id="rId35"/>
    </p:embeddedFont>
    <p:embeddedFont>
      <p:font typeface="Nunito"/>
      <p:regular r:id="rId36"/>
      <p:bold r:id="rId37"/>
      <p:italic r:id="rId38"/>
      <p:boldItalic r:id="rId39"/>
    </p:embeddedFont>
    <p:embeddedFont>
      <p:font typeface="Manrope"/>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ACAC44B-D3BF-4BC1-9598-8C8F3237D144}">
  <a:tblStyle styleId="{CACAC44B-D3BF-4BC1-9598-8C8F3237D14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anrope-regular.fntdata"/><Relationship Id="rId20" Type="http://schemas.openxmlformats.org/officeDocument/2006/relationships/slide" Target="slides/slide14.xml"/><Relationship Id="rId41" Type="http://schemas.openxmlformats.org/officeDocument/2006/relationships/font" Target="fonts/Manrope-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bold.fntdata"/><Relationship Id="rId10" Type="http://schemas.openxmlformats.org/officeDocument/2006/relationships/slide" Target="slides/slide4.xml"/><Relationship Id="rId32" Type="http://schemas.openxmlformats.org/officeDocument/2006/relationships/font" Target="fonts/Roboto-regular.fntdata"/><Relationship Id="rId13" Type="http://schemas.openxmlformats.org/officeDocument/2006/relationships/slide" Target="slides/slide7.xml"/><Relationship Id="rId35" Type="http://schemas.openxmlformats.org/officeDocument/2006/relationships/font" Target="fonts/Roboto-boldItalic.fntdata"/><Relationship Id="rId12" Type="http://schemas.openxmlformats.org/officeDocument/2006/relationships/slide" Target="slides/slide6.xml"/><Relationship Id="rId34" Type="http://schemas.openxmlformats.org/officeDocument/2006/relationships/font" Target="fonts/Roboto-italic.fntdata"/><Relationship Id="rId15" Type="http://schemas.openxmlformats.org/officeDocument/2006/relationships/slide" Target="slides/slide9.xml"/><Relationship Id="rId37" Type="http://schemas.openxmlformats.org/officeDocument/2006/relationships/font" Target="fonts/Nunito-bold.fntdata"/><Relationship Id="rId14" Type="http://schemas.openxmlformats.org/officeDocument/2006/relationships/slide" Target="slides/slide8.xml"/><Relationship Id="rId36" Type="http://schemas.openxmlformats.org/officeDocument/2006/relationships/font" Target="fonts/Nunito-regular.fntdata"/><Relationship Id="rId17" Type="http://schemas.openxmlformats.org/officeDocument/2006/relationships/slide" Target="slides/slide11.xml"/><Relationship Id="rId39" Type="http://schemas.openxmlformats.org/officeDocument/2006/relationships/font" Target="fonts/Nunito-boldItalic.fntdata"/><Relationship Id="rId16" Type="http://schemas.openxmlformats.org/officeDocument/2006/relationships/slide" Target="slides/slide10.xml"/><Relationship Id="rId38" Type="http://schemas.openxmlformats.org/officeDocument/2006/relationships/font" Target="fonts/Nuni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a3ba09a468_0_13: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project management starts with </a:t>
            </a:r>
            <a:r>
              <a:rPr lang="en"/>
              <a:t>Minimum</a:t>
            </a:r>
            <a:r>
              <a:rPr lang="en"/>
              <a:t> Viable Products MVPS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3ba09a468_0_3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Sometimes getting the use case is the hardest part.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3ba09a468_0_72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a3ba09a468_0_6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3ba09a468_0_77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30000"/>
              </a:lnSpc>
              <a:spcBef>
                <a:spcPts val="1400"/>
              </a:spcBef>
              <a:spcAft>
                <a:spcPts val="0"/>
              </a:spcAft>
              <a:buNone/>
            </a:pPr>
            <a:r>
              <a:rPr b="1" lang="en" sz="1500">
                <a:solidFill>
                  <a:srgbClr val="111827"/>
                </a:solidFill>
                <a:highlight>
                  <a:srgbClr val="FFFFFF"/>
                </a:highlight>
              </a:rPr>
              <a:t>Training Data Bias</a:t>
            </a:r>
            <a:endParaRPr b="1" sz="1500">
              <a:solidFill>
                <a:srgbClr val="111827"/>
              </a:solidFill>
              <a:highlight>
                <a:srgbClr val="FFFFFF"/>
              </a:highlight>
            </a:endParaRPr>
          </a:p>
          <a:p>
            <a:pPr indent="0" lvl="0" marL="0" rtl="0" algn="l">
              <a:lnSpc>
                <a:spcPct val="115000"/>
              </a:lnSpc>
              <a:spcBef>
                <a:spcPts val="400"/>
              </a:spcBef>
              <a:spcAft>
                <a:spcPts val="0"/>
              </a:spcAft>
              <a:buNone/>
            </a:pPr>
            <a:r>
              <a:rPr lang="en" sz="1200">
                <a:solidFill>
                  <a:srgbClr val="111827"/>
                </a:solidFill>
                <a:highlight>
                  <a:srgbClr val="FFFFFF"/>
                </a:highlight>
              </a:rPr>
              <a:t>LLMs were trained on massive amounts of JSON:</a:t>
            </a:r>
            <a:endParaRPr sz="1200">
              <a:solidFill>
                <a:srgbClr val="111827"/>
              </a:solidFill>
              <a:highlight>
                <a:srgbClr val="FFFFFF"/>
              </a:highlight>
            </a:endParaRPr>
          </a:p>
          <a:p>
            <a:pPr indent="-304800" lvl="0" marL="457200" rtl="0" algn="l">
              <a:lnSpc>
                <a:spcPct val="115000"/>
              </a:lnSpc>
              <a:spcBef>
                <a:spcPts val="1800"/>
              </a:spcBef>
              <a:spcAft>
                <a:spcPts val="0"/>
              </a:spcAft>
              <a:buClr>
                <a:srgbClr val="424242"/>
              </a:buClr>
              <a:buSzPts val="1200"/>
              <a:buChar char="●"/>
            </a:pPr>
            <a:r>
              <a:rPr lang="en" sz="1200">
                <a:solidFill>
                  <a:srgbClr val="424242"/>
                </a:solidFill>
                <a:highlight>
                  <a:srgbClr val="FFFFFF"/>
                </a:highlight>
              </a:rPr>
              <a:t>GitHub code repositories (millions of API responses, config files)</a:t>
            </a:r>
            <a:endParaRPr sz="1200">
              <a:solidFill>
                <a:srgbClr val="424242"/>
              </a:solidFill>
              <a:highlight>
                <a:srgbClr val="FFFFFF"/>
              </a:highlight>
            </a:endParaRPr>
          </a:p>
          <a:p>
            <a:pPr indent="-304800" lvl="0" marL="457200" rtl="0" algn="l">
              <a:lnSpc>
                <a:spcPct val="115000"/>
              </a:lnSpc>
              <a:spcBef>
                <a:spcPts val="0"/>
              </a:spcBef>
              <a:spcAft>
                <a:spcPts val="0"/>
              </a:spcAft>
              <a:buClr>
                <a:srgbClr val="424242"/>
              </a:buClr>
              <a:buSzPts val="1200"/>
              <a:buChar char="●"/>
            </a:pPr>
            <a:r>
              <a:rPr lang="en" sz="1200">
                <a:solidFill>
                  <a:srgbClr val="424242"/>
                </a:solidFill>
                <a:highlight>
                  <a:srgbClr val="FFFFFF"/>
                </a:highlight>
              </a:rPr>
              <a:t>API documentation (OpenAPI/Swagger specs in JSON)</a:t>
            </a:r>
            <a:endParaRPr sz="1200">
              <a:solidFill>
                <a:srgbClr val="424242"/>
              </a:solidFill>
              <a:highlight>
                <a:srgbClr val="FFFFFF"/>
              </a:highlight>
            </a:endParaRPr>
          </a:p>
          <a:p>
            <a:pPr indent="-304800" lvl="0" marL="457200" rtl="0" algn="l">
              <a:lnSpc>
                <a:spcPct val="115000"/>
              </a:lnSpc>
              <a:spcBef>
                <a:spcPts val="0"/>
              </a:spcBef>
              <a:spcAft>
                <a:spcPts val="0"/>
              </a:spcAft>
              <a:buClr>
                <a:srgbClr val="424242"/>
              </a:buClr>
              <a:buSzPts val="1200"/>
              <a:buChar char="●"/>
            </a:pPr>
            <a:r>
              <a:rPr lang="en" sz="1200">
                <a:solidFill>
                  <a:srgbClr val="424242"/>
                </a:solidFill>
                <a:highlight>
                  <a:srgbClr val="FFFFFF"/>
                </a:highlight>
              </a:rPr>
              <a:t>Web scraping data (JSON-LD, structured data)</a:t>
            </a:r>
            <a:endParaRPr sz="1200">
              <a:solidFill>
                <a:srgbClr val="424242"/>
              </a:solidFill>
              <a:highlight>
                <a:srgbClr val="FFFFFF"/>
              </a:highlight>
            </a:endParaRPr>
          </a:p>
          <a:p>
            <a:pPr indent="-304800" lvl="0" marL="457200" rtl="0" algn="l">
              <a:lnSpc>
                <a:spcPct val="115000"/>
              </a:lnSpc>
              <a:spcBef>
                <a:spcPts val="0"/>
              </a:spcBef>
              <a:spcAft>
                <a:spcPts val="0"/>
              </a:spcAft>
              <a:buClr>
                <a:srgbClr val="424242"/>
              </a:buClr>
              <a:buSzPts val="1200"/>
              <a:buChar char="●"/>
            </a:pPr>
            <a:r>
              <a:rPr lang="en" sz="1200">
                <a:solidFill>
                  <a:srgbClr val="424242"/>
                </a:solidFill>
                <a:highlight>
                  <a:srgbClr val="FFFFFF"/>
                </a:highlight>
              </a:rPr>
              <a:t>Database exports and data interchange formats</a:t>
            </a:r>
            <a:endParaRPr sz="1200">
              <a:solidFill>
                <a:srgbClr val="424242"/>
              </a:solidFill>
              <a:highlight>
                <a:srgbClr val="FFFFFF"/>
              </a:highlight>
            </a:endParaRPr>
          </a:p>
          <a:p>
            <a:pPr indent="0" lvl="0" marL="0" rtl="0" algn="l">
              <a:lnSpc>
                <a:spcPct val="115000"/>
              </a:lnSpc>
              <a:spcBef>
                <a:spcPts val="1800"/>
              </a:spcBef>
              <a:spcAft>
                <a:spcPts val="0"/>
              </a:spcAft>
              <a:buNone/>
            </a:pPr>
            <a:r>
              <a:t/>
            </a:r>
            <a:endParaRPr sz="1200">
              <a:solidFill>
                <a:srgbClr val="111827"/>
              </a:solidFill>
              <a:highlight>
                <a:srgbClr val="FFFFFF"/>
              </a:highlight>
            </a:endParaRPr>
          </a:p>
          <a:p>
            <a:pPr indent="0" lvl="0" marL="0" rtl="0" algn="l">
              <a:lnSpc>
                <a:spcPct val="115000"/>
              </a:lnSpc>
              <a:spcBef>
                <a:spcPts val="1500"/>
              </a:spcBef>
              <a:spcAft>
                <a:spcPts val="0"/>
              </a:spcAft>
              <a:buClr>
                <a:schemeClr val="dk1"/>
              </a:buClr>
              <a:buSzPts val="1100"/>
              <a:buFont typeface="Arial"/>
              <a:buNone/>
            </a:pPr>
            <a:r>
              <a:rPr lang="en" sz="1200">
                <a:solidFill>
                  <a:srgbClr val="111827"/>
                </a:solidFill>
                <a:highlight>
                  <a:srgbClr val="FFFFFF"/>
                </a:highlight>
              </a:rPr>
              <a:t>"Will this change?"</a:t>
            </a:r>
            <a:endParaRPr sz="1200">
              <a:solidFill>
                <a:srgbClr val="111827"/>
              </a:solidFill>
              <a:highlight>
                <a:srgbClr val="FFFFFF"/>
              </a:highlight>
            </a:endParaRPr>
          </a:p>
          <a:p>
            <a:pPr indent="-304800" lvl="0" marL="457200" rtl="0" algn="l">
              <a:lnSpc>
                <a:spcPct val="115000"/>
              </a:lnSpc>
              <a:spcBef>
                <a:spcPts val="1800"/>
              </a:spcBef>
              <a:spcAft>
                <a:spcPts val="0"/>
              </a:spcAft>
              <a:buClr>
                <a:srgbClr val="424242"/>
              </a:buClr>
              <a:buSzPts val="1200"/>
              <a:buChar char="●"/>
            </a:pPr>
            <a:r>
              <a:rPr lang="en" sz="1200">
                <a:solidFill>
                  <a:srgbClr val="424242"/>
                </a:solidFill>
                <a:highlight>
                  <a:srgbClr val="FFFFFF"/>
                </a:highlight>
              </a:rPr>
              <a:t>Future models will be better at all formats</a:t>
            </a:r>
            <a:endParaRPr sz="1200">
              <a:solidFill>
                <a:srgbClr val="424242"/>
              </a:solidFill>
              <a:highlight>
                <a:srgbClr val="FFFFFF"/>
              </a:highlight>
            </a:endParaRPr>
          </a:p>
          <a:p>
            <a:pPr indent="-304800" lvl="0" marL="457200" rtl="0" algn="l">
              <a:lnSpc>
                <a:spcPct val="115000"/>
              </a:lnSpc>
              <a:spcBef>
                <a:spcPts val="0"/>
              </a:spcBef>
              <a:spcAft>
                <a:spcPts val="0"/>
              </a:spcAft>
              <a:buClr>
                <a:srgbClr val="424242"/>
              </a:buClr>
              <a:buSzPts val="1200"/>
              <a:buChar char="●"/>
            </a:pPr>
            <a:r>
              <a:rPr lang="en" sz="1200">
                <a:solidFill>
                  <a:srgbClr val="424242"/>
                </a:solidFill>
                <a:highlight>
                  <a:srgbClr val="FFFFFF"/>
                </a:highlight>
              </a:rPr>
              <a:t>BUT: JSON will likely remain most efficient for cost and accuracy</a:t>
            </a:r>
            <a:endParaRPr sz="1200">
              <a:solidFill>
                <a:srgbClr val="424242"/>
              </a:solidFill>
              <a:highlight>
                <a:srgbClr val="FFFFFF"/>
              </a:highlight>
            </a:endParaRPr>
          </a:p>
          <a:p>
            <a:pPr indent="-304800" lvl="0" marL="457200" rtl="0" algn="l">
              <a:lnSpc>
                <a:spcPct val="115000"/>
              </a:lnSpc>
              <a:spcBef>
                <a:spcPts val="0"/>
              </a:spcBef>
              <a:spcAft>
                <a:spcPts val="0"/>
              </a:spcAft>
              <a:buClr>
                <a:srgbClr val="424242"/>
              </a:buClr>
              <a:buSzPts val="1200"/>
              <a:buChar char="●"/>
            </a:pPr>
            <a:r>
              <a:rPr lang="en" sz="1200">
                <a:solidFill>
                  <a:srgbClr val="424242"/>
                </a:solidFill>
                <a:highlight>
                  <a:srgbClr val="FFFFFF"/>
                </a:highlight>
              </a:rPr>
              <a:t>New integration methods may automate this process</a:t>
            </a:r>
            <a:endParaRPr sz="1200">
              <a:solidFill>
                <a:srgbClr val="424242"/>
              </a:solidFill>
              <a:highlight>
                <a:srgbClr val="FFFFFF"/>
              </a:highlight>
            </a:endParaRPr>
          </a:p>
          <a:p>
            <a:pPr indent="-304800" lvl="0" marL="457200" rtl="0" algn="l">
              <a:lnSpc>
                <a:spcPct val="115000"/>
              </a:lnSpc>
              <a:spcBef>
                <a:spcPts val="0"/>
              </a:spcBef>
              <a:spcAft>
                <a:spcPts val="0"/>
              </a:spcAft>
              <a:buClr>
                <a:srgbClr val="424242"/>
              </a:buClr>
              <a:buSzPts val="1200"/>
              <a:buChar char="●"/>
            </a:pPr>
            <a:r>
              <a:rPr lang="en" sz="1200">
                <a:solidFill>
                  <a:srgbClr val="424242"/>
                </a:solidFill>
                <a:highlight>
                  <a:srgbClr val="FFFFFF"/>
                </a:highlight>
              </a:rPr>
              <a:t>Our solution remains valid as a low-cost alternative</a:t>
            </a:r>
            <a:endParaRPr sz="1200">
              <a:solidFill>
                <a:srgbClr val="424242"/>
              </a:solidFill>
              <a:highlight>
                <a:srgbClr val="FFFFFF"/>
              </a:highlight>
            </a:endParaRPr>
          </a:p>
          <a:p>
            <a:pPr indent="0" lvl="0" marL="0" rtl="0" algn="l">
              <a:spcBef>
                <a:spcPts val="18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3ba09a468_0_12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3ba09a468_0_159: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Single Records like contacts will be </a:t>
            </a:r>
            <a:r>
              <a:rPr lang="en"/>
              <a:t>handled</a:t>
            </a:r>
            <a:r>
              <a:rPr lang="en"/>
              <a:t> using text formulas</a:t>
            </a:r>
            <a:endParaRPr/>
          </a:p>
          <a:p>
            <a:pPr indent="0" lvl="0" marL="0" rtl="0" algn="l">
              <a:spcBef>
                <a:spcPts val="0"/>
              </a:spcBef>
              <a:spcAft>
                <a:spcPts val="0"/>
              </a:spcAft>
              <a:buNone/>
            </a:pPr>
            <a:r>
              <a:rPr lang="en"/>
              <a:t>Single object related lists will be converted directly to Json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3ba09a468_0_185: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 Object relationships will require both a loop and a transform</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3ba09a468_0_28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who’s used transforms with or without joins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3ba09a468_0_31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3ba09a468_0_39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Who’s used Text Templates?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We’re using these as default prompts like explaining the expected output and explaining our gift processes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3ba09a468_0_41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3ba09a468_0_75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3ba09a468_0_44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3ba09a468_0_46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FYI an LLM made up these stats, probably better than where they came to  Salesforce’s AEs deck,</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3ba09a468_0_52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3ba09a468_0_55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3ba09a468_0_57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3ba09a468_0_60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a3ba09a468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a3ba09a468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current copy screen I’ve deployed it includes the scoring which will </a:t>
            </a:r>
            <a:r>
              <a:rPr lang="en"/>
              <a:t>write</a:t>
            </a:r>
            <a:r>
              <a:rPr lang="en"/>
              <a:t> back to the log record if the close or go back buttons are 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end user can example </a:t>
            </a:r>
            <a:r>
              <a:rPr lang="en"/>
              <a:t>the</a:t>
            </a:r>
            <a:r>
              <a:rPr lang="en"/>
              <a:t> full text before copying if </a:t>
            </a:r>
            <a:r>
              <a:rPr lang="en"/>
              <a:t>they</a:t>
            </a:r>
            <a:r>
              <a:rPr lang="en"/>
              <a:t> want to go back and adjust the prompts on the previous screen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3ba09a468_0_662: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3ba09a468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3ba09a468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1640c30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1640c30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91640c300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91640c300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1640c300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91640c300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E">
  <p:cSld name="TITLE_AND_BODY_2_1_1_1_1_1_1">
    <p:spTree>
      <p:nvGrpSpPr>
        <p:cNvPr id="9" name="Shape 9"/>
        <p:cNvGrpSpPr/>
        <p:nvPr/>
      </p:nvGrpSpPr>
      <p:grpSpPr>
        <a:xfrm>
          <a:off x="0" y="0"/>
          <a:ext cx="0" cy="0"/>
          <a:chOff x="0" y="0"/>
          <a:chExt cx="0" cy="0"/>
        </a:xfrm>
      </p:grpSpPr>
      <p:sp>
        <p:nvSpPr>
          <p:cNvPr id="10" name="Google Shape;10;p2"/>
          <p:cNvSpPr txBox="1"/>
          <p:nvPr>
            <p:ph type="title"/>
          </p:nvPr>
        </p:nvSpPr>
        <p:spPr>
          <a:xfrm>
            <a:off x="5145700" y="226400"/>
            <a:ext cx="3651900" cy="1094400"/>
          </a:xfrm>
          <a:prstGeom prst="rect">
            <a:avLst/>
          </a:prstGeom>
        </p:spPr>
        <p:txBody>
          <a:bodyPr anchorCtr="0" anchor="t" bIns="0" lIns="0" spcFirstLastPara="1" rIns="0" wrap="square" tIns="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body"/>
          </p:nvPr>
        </p:nvSpPr>
        <p:spPr>
          <a:xfrm>
            <a:off x="5145700" y="1598500"/>
            <a:ext cx="3651900" cy="3318600"/>
          </a:xfrm>
          <a:prstGeom prst="rect">
            <a:avLst/>
          </a:prstGeom>
          <a:ln>
            <a:noFill/>
          </a:ln>
        </p:spPr>
        <p:txBody>
          <a:bodyPr anchorCtr="0" anchor="t" bIns="0" lIns="0" spcFirstLastPara="1" rIns="0" wrap="square" tIns="0">
            <a:norm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 name="Google Shape;12;p2"/>
          <p:cNvSpPr/>
          <p:nvPr>
            <p:ph idx="2" type="pic"/>
          </p:nvPr>
        </p:nvSpPr>
        <p:spPr>
          <a:xfrm>
            <a:off x="204047" y="226350"/>
            <a:ext cx="4690800" cy="4690800"/>
          </a:xfrm>
          <a:prstGeom prst="rect">
            <a:avLst/>
          </a:prstGeom>
          <a:noFill/>
          <a:ln>
            <a:noFill/>
          </a:ln>
        </p:spPr>
      </p:sp>
    </p:spTree>
  </p:cSld>
  <p:clrMapOvr>
    <a:masterClrMapping/>
  </p:clrMapOvr>
  <p:extLst>
    <p:ext uri="{DCECCB84-F9BA-43D5-87BE-67443E8EF086}">
      <p15:sldGuideLst>
        <p15:guide id="1" orient="horz" pos="1620">
          <p15:clr>
            <a:srgbClr val="E46962"/>
          </p15:clr>
        </p15:guide>
        <p15:guide id="2" pos="3083">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J">
  <p:cSld name="TITLE_AND_BODY_2_1_1_1_1_1_2">
    <p:spTree>
      <p:nvGrpSpPr>
        <p:cNvPr id="13" name="Shape 13"/>
        <p:cNvGrpSpPr/>
        <p:nvPr/>
      </p:nvGrpSpPr>
      <p:grpSpPr>
        <a:xfrm>
          <a:off x="0" y="0"/>
          <a:ext cx="0" cy="0"/>
          <a:chOff x="0" y="0"/>
          <a:chExt cx="0" cy="0"/>
        </a:xfrm>
      </p:grpSpPr>
      <p:sp>
        <p:nvSpPr>
          <p:cNvPr id="14" name="Google Shape;14;p3"/>
          <p:cNvSpPr/>
          <p:nvPr>
            <p:ph idx="2" type="pic"/>
          </p:nvPr>
        </p:nvSpPr>
        <p:spPr>
          <a:xfrm>
            <a:off x="457200" y="1519300"/>
            <a:ext cx="3090600" cy="3090600"/>
          </a:xfrm>
          <a:prstGeom prst="roundRect">
            <a:avLst>
              <a:gd fmla="val 50000" name="adj"/>
            </a:avLst>
          </a:prstGeom>
          <a:noFill/>
          <a:ln>
            <a:noFill/>
          </a:ln>
        </p:spPr>
      </p:sp>
      <p:sp>
        <p:nvSpPr>
          <p:cNvPr id="15" name="Google Shape;15;p3"/>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 name="Google Shape;16;p3"/>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A">
  <p:cSld name="TITLE_AND_BODY_2_1">
    <p:spTree>
      <p:nvGrpSpPr>
        <p:cNvPr id="17" name="Shape 17"/>
        <p:cNvGrpSpPr/>
        <p:nvPr/>
      </p:nvGrpSpPr>
      <p:grpSpPr>
        <a:xfrm>
          <a:off x="0" y="0"/>
          <a:ext cx="0" cy="0"/>
          <a:chOff x="0" y="0"/>
          <a:chExt cx="0" cy="0"/>
        </a:xfrm>
      </p:grpSpPr>
      <p:sp>
        <p:nvSpPr>
          <p:cNvPr id="18" name="Google Shape;18;p4"/>
          <p:cNvSpPr/>
          <p:nvPr>
            <p:ph idx="2" type="pic"/>
          </p:nvPr>
        </p:nvSpPr>
        <p:spPr>
          <a:xfrm>
            <a:off x="3996000" y="0"/>
            <a:ext cx="5148000" cy="5143500"/>
          </a:xfrm>
          <a:prstGeom prst="rect">
            <a:avLst/>
          </a:prstGeom>
          <a:noFill/>
          <a:ln>
            <a:noFill/>
          </a:ln>
        </p:spPr>
      </p:sp>
      <p:sp>
        <p:nvSpPr>
          <p:cNvPr id="19" name="Google Shape;19;p4"/>
          <p:cNvSpPr txBox="1"/>
          <p:nvPr>
            <p:ph type="title"/>
          </p:nvPr>
        </p:nvSpPr>
        <p:spPr>
          <a:xfrm>
            <a:off x="327575" y="340500"/>
            <a:ext cx="35481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27575" y="1616646"/>
            <a:ext cx="3548100" cy="32883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H">
  <p:cSld name="TITLE_AND_BODY_2_1_1_1_1_1_1_1_1_1_1">
    <p:spTree>
      <p:nvGrpSpPr>
        <p:cNvPr id="21" name="Shape 21"/>
        <p:cNvGrpSpPr/>
        <p:nvPr/>
      </p:nvGrpSpPr>
      <p:grpSpPr>
        <a:xfrm>
          <a:off x="0" y="0"/>
          <a:ext cx="0" cy="0"/>
          <a:chOff x="0" y="0"/>
          <a:chExt cx="0" cy="0"/>
        </a:xfrm>
      </p:grpSpPr>
      <p:sp>
        <p:nvSpPr>
          <p:cNvPr id="22" name="Google Shape;22;p5"/>
          <p:cNvSpPr/>
          <p:nvPr>
            <p:ph idx="2" type="pic"/>
          </p:nvPr>
        </p:nvSpPr>
        <p:spPr>
          <a:xfrm>
            <a:off x="5545938" y="1519300"/>
            <a:ext cx="3090600" cy="3090600"/>
          </a:xfrm>
          <a:prstGeom prst="rect">
            <a:avLst/>
          </a:prstGeom>
          <a:noFill/>
          <a:ln>
            <a:noFill/>
          </a:ln>
        </p:spPr>
      </p:sp>
      <p:sp>
        <p:nvSpPr>
          <p:cNvPr id="23" name="Google Shape;23;p5"/>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G">
  <p:cSld name="TITLE_AND_BODY_2_1_1_1_1_1_1_1_1_1">
    <p:spTree>
      <p:nvGrpSpPr>
        <p:cNvPr id="25" name="Shape 25"/>
        <p:cNvGrpSpPr/>
        <p:nvPr/>
      </p:nvGrpSpPr>
      <p:grpSpPr>
        <a:xfrm>
          <a:off x="0" y="0"/>
          <a:ext cx="0" cy="0"/>
          <a:chOff x="0" y="0"/>
          <a:chExt cx="0" cy="0"/>
        </a:xfrm>
      </p:grpSpPr>
      <p:sp>
        <p:nvSpPr>
          <p:cNvPr id="26" name="Google Shape;26;p6"/>
          <p:cNvSpPr/>
          <p:nvPr>
            <p:ph idx="2" type="pic"/>
          </p:nvPr>
        </p:nvSpPr>
        <p:spPr>
          <a:xfrm>
            <a:off x="507438" y="1534500"/>
            <a:ext cx="3090600" cy="3090600"/>
          </a:xfrm>
          <a:prstGeom prst="rect">
            <a:avLst/>
          </a:prstGeom>
          <a:noFill/>
          <a:ln>
            <a:noFill/>
          </a:ln>
        </p:spPr>
      </p:sp>
      <p:sp>
        <p:nvSpPr>
          <p:cNvPr id="27" name="Google Shape;27;p6"/>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4_1_TITLEANDBULLETS_A">
  <p:cSld name="CUSTOM_1_1">
    <p:spTree>
      <p:nvGrpSpPr>
        <p:cNvPr id="29" name="Shape 29"/>
        <p:cNvGrpSpPr/>
        <p:nvPr/>
      </p:nvGrpSpPr>
      <p:grpSpPr>
        <a:xfrm>
          <a:off x="0" y="0"/>
          <a:ext cx="0" cy="0"/>
          <a:chOff x="0" y="0"/>
          <a:chExt cx="0" cy="0"/>
        </a:xfrm>
      </p:grpSpPr>
      <p:sp>
        <p:nvSpPr>
          <p:cNvPr id="30" name="Google Shape;30;p7"/>
          <p:cNvSpPr/>
          <p:nvPr>
            <p:ph idx="2" type="pic"/>
          </p:nvPr>
        </p:nvSpPr>
        <p:spPr>
          <a:xfrm>
            <a:off x="3035838" y="1471024"/>
            <a:ext cx="3173100" cy="3173100"/>
          </a:xfrm>
          <a:prstGeom prst="roundRect">
            <a:avLst>
              <a:gd fmla="val 50000" name="adj"/>
            </a:avLst>
          </a:prstGeom>
          <a:noFill/>
          <a:ln>
            <a:noFill/>
          </a:ln>
        </p:spPr>
      </p:sp>
      <p:sp>
        <p:nvSpPr>
          <p:cNvPr id="31" name="Google Shape;31;p7"/>
          <p:cNvSpPr txBox="1"/>
          <p:nvPr>
            <p:ph type="title"/>
          </p:nvPr>
        </p:nvSpPr>
        <p:spPr>
          <a:xfrm>
            <a:off x="256050" y="253350"/>
            <a:ext cx="8631900" cy="850500"/>
          </a:xfrm>
          <a:prstGeom prst="rect">
            <a:avLst/>
          </a:prstGeom>
          <a:ln>
            <a:noFill/>
          </a:ln>
        </p:spPr>
        <p:txBody>
          <a:bodyPr anchorCtr="0" anchor="ctr" bIns="0" lIns="0" spcFirstLastPara="1" rIns="0" wrap="square" tIns="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nvSpPr>
        <p:spPr>
          <a:xfrm>
            <a:off x="256062" y="1205848"/>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01</a:t>
            </a:r>
            <a:endParaRPr>
              <a:solidFill>
                <a:schemeClr val="dk2"/>
              </a:solidFill>
            </a:endParaRPr>
          </a:p>
        </p:txBody>
      </p:sp>
      <p:sp>
        <p:nvSpPr>
          <p:cNvPr id="33" name="Google Shape;33;p7"/>
          <p:cNvSpPr txBox="1"/>
          <p:nvPr/>
        </p:nvSpPr>
        <p:spPr>
          <a:xfrm>
            <a:off x="256062" y="3308968"/>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02</a:t>
            </a:r>
            <a:endParaRPr>
              <a:solidFill>
                <a:schemeClr val="dk2"/>
              </a:solidFill>
            </a:endParaRPr>
          </a:p>
        </p:txBody>
      </p:sp>
      <p:sp>
        <p:nvSpPr>
          <p:cNvPr id="34" name="Google Shape;34;p7"/>
          <p:cNvSpPr txBox="1"/>
          <p:nvPr/>
        </p:nvSpPr>
        <p:spPr>
          <a:xfrm>
            <a:off x="6382542" y="1205120"/>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03</a:t>
            </a:r>
            <a:endParaRPr>
              <a:solidFill>
                <a:schemeClr val="dk2"/>
              </a:solidFill>
            </a:endParaRPr>
          </a:p>
        </p:txBody>
      </p:sp>
      <p:sp>
        <p:nvSpPr>
          <p:cNvPr id="35" name="Google Shape;35;p7"/>
          <p:cNvSpPr txBox="1"/>
          <p:nvPr>
            <p:ph idx="1" type="body"/>
          </p:nvPr>
        </p:nvSpPr>
        <p:spPr>
          <a:xfrm>
            <a:off x="1088166" y="1250719"/>
            <a:ext cx="1664100" cy="1536300"/>
          </a:xfrm>
          <a:prstGeom prst="rect">
            <a:avLst/>
          </a:prstGeom>
          <a:ln>
            <a:noFill/>
          </a:ln>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6" name="Google Shape;36;p7"/>
          <p:cNvSpPr txBox="1"/>
          <p:nvPr>
            <p:ph idx="3" type="body"/>
          </p:nvPr>
        </p:nvSpPr>
        <p:spPr>
          <a:xfrm>
            <a:off x="7223790" y="1249991"/>
            <a:ext cx="1664100" cy="1536300"/>
          </a:xfrm>
          <a:prstGeom prst="rect">
            <a:avLst/>
          </a:prstGeom>
          <a:ln>
            <a:noFill/>
          </a:ln>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7" name="Google Shape;37;p7"/>
          <p:cNvSpPr txBox="1"/>
          <p:nvPr>
            <p:ph idx="4" type="body"/>
          </p:nvPr>
        </p:nvSpPr>
        <p:spPr>
          <a:xfrm>
            <a:off x="7223790" y="3353111"/>
            <a:ext cx="1664100" cy="1536300"/>
          </a:xfrm>
          <a:prstGeom prst="rect">
            <a:avLst/>
          </a:prstGeom>
          <a:ln>
            <a:noFill/>
          </a:ln>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cxnSp>
        <p:nvCxnSpPr>
          <p:cNvPr id="38" name="Google Shape;38;p7"/>
          <p:cNvCxnSpPr/>
          <p:nvPr/>
        </p:nvCxnSpPr>
        <p:spPr>
          <a:xfrm>
            <a:off x="628506" y="1406957"/>
            <a:ext cx="415500" cy="0"/>
          </a:xfrm>
          <a:prstGeom prst="straightConnector1">
            <a:avLst/>
          </a:prstGeom>
          <a:noFill/>
          <a:ln cap="flat" cmpd="sng" w="9525">
            <a:solidFill>
              <a:srgbClr val="595959"/>
            </a:solidFill>
            <a:prstDash val="solid"/>
            <a:round/>
            <a:headEnd len="med" w="med" type="none"/>
            <a:tailEnd len="med" w="med" type="none"/>
          </a:ln>
        </p:spPr>
      </p:cxnSp>
      <p:cxnSp>
        <p:nvCxnSpPr>
          <p:cNvPr id="39" name="Google Shape;39;p7"/>
          <p:cNvCxnSpPr/>
          <p:nvPr/>
        </p:nvCxnSpPr>
        <p:spPr>
          <a:xfrm>
            <a:off x="628506" y="3509382"/>
            <a:ext cx="415500" cy="0"/>
          </a:xfrm>
          <a:prstGeom prst="straightConnector1">
            <a:avLst/>
          </a:prstGeom>
          <a:noFill/>
          <a:ln cap="flat" cmpd="sng" w="9525">
            <a:solidFill>
              <a:srgbClr val="595959"/>
            </a:solidFill>
            <a:prstDash val="solid"/>
            <a:round/>
            <a:headEnd len="med" w="med" type="none"/>
            <a:tailEnd len="med" w="med" type="none"/>
          </a:ln>
        </p:spPr>
      </p:cxnSp>
      <p:cxnSp>
        <p:nvCxnSpPr>
          <p:cNvPr id="40" name="Google Shape;40;p7"/>
          <p:cNvCxnSpPr/>
          <p:nvPr/>
        </p:nvCxnSpPr>
        <p:spPr>
          <a:xfrm>
            <a:off x="6760631" y="1406288"/>
            <a:ext cx="415500" cy="0"/>
          </a:xfrm>
          <a:prstGeom prst="straightConnector1">
            <a:avLst/>
          </a:prstGeom>
          <a:noFill/>
          <a:ln cap="flat" cmpd="sng" w="9525">
            <a:solidFill>
              <a:srgbClr val="595959"/>
            </a:solidFill>
            <a:prstDash val="solid"/>
            <a:round/>
            <a:headEnd len="med" w="med" type="none"/>
            <a:tailEnd len="med" w="med" type="none"/>
          </a:ln>
        </p:spPr>
      </p:cxnSp>
      <p:cxnSp>
        <p:nvCxnSpPr>
          <p:cNvPr id="41" name="Google Shape;41;p7"/>
          <p:cNvCxnSpPr/>
          <p:nvPr/>
        </p:nvCxnSpPr>
        <p:spPr>
          <a:xfrm>
            <a:off x="6760631" y="3509407"/>
            <a:ext cx="415500" cy="0"/>
          </a:xfrm>
          <a:prstGeom prst="straightConnector1">
            <a:avLst/>
          </a:prstGeom>
          <a:noFill/>
          <a:ln cap="flat" cmpd="sng" w="9525">
            <a:solidFill>
              <a:srgbClr val="595959"/>
            </a:solidFill>
            <a:prstDash val="solid"/>
            <a:round/>
            <a:headEnd len="med" w="med" type="none"/>
            <a:tailEnd len="med" w="med" type="none"/>
          </a:ln>
        </p:spPr>
      </p:cxnSp>
      <p:sp>
        <p:nvSpPr>
          <p:cNvPr id="42" name="Google Shape;42;p7"/>
          <p:cNvSpPr txBox="1"/>
          <p:nvPr/>
        </p:nvSpPr>
        <p:spPr>
          <a:xfrm>
            <a:off x="6382546" y="3308238"/>
            <a:ext cx="777300" cy="6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rPr>
              <a:t>04</a:t>
            </a:r>
            <a:endParaRPr>
              <a:solidFill>
                <a:schemeClr val="dk2"/>
              </a:solidFill>
            </a:endParaRPr>
          </a:p>
        </p:txBody>
      </p:sp>
      <p:sp>
        <p:nvSpPr>
          <p:cNvPr id="43" name="Google Shape;43;p7"/>
          <p:cNvSpPr txBox="1"/>
          <p:nvPr>
            <p:ph idx="5" type="body"/>
          </p:nvPr>
        </p:nvSpPr>
        <p:spPr>
          <a:xfrm>
            <a:off x="1088166" y="3353839"/>
            <a:ext cx="1664100" cy="1536300"/>
          </a:xfrm>
          <a:prstGeom prst="rect">
            <a:avLst/>
          </a:prstGeom>
          <a:ln>
            <a:noFill/>
          </a:ln>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orient="horz" pos="1904">
          <p15:clr>
            <a:srgbClr val="E46962"/>
          </p15:clr>
        </p15:guide>
        <p15:guide id="2" pos="4718">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I">
  <p:cSld name="TITLE_AND_BODY_2_1_1_1_2">
    <p:spTree>
      <p:nvGrpSpPr>
        <p:cNvPr id="44" name="Shape 44"/>
        <p:cNvGrpSpPr/>
        <p:nvPr/>
      </p:nvGrpSpPr>
      <p:grpSpPr>
        <a:xfrm>
          <a:off x="0" y="0"/>
          <a:ext cx="0" cy="0"/>
          <a:chOff x="0" y="0"/>
          <a:chExt cx="0" cy="0"/>
        </a:xfrm>
      </p:grpSpPr>
      <p:sp>
        <p:nvSpPr>
          <p:cNvPr id="45" name="Google Shape;45;p8"/>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 name="Google Shape;46;p8"/>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8"/>
          <p:cNvSpPr/>
          <p:nvPr>
            <p:ph idx="2" type="pic"/>
          </p:nvPr>
        </p:nvSpPr>
        <p:spPr>
          <a:xfrm>
            <a:off x="5545950" y="1519300"/>
            <a:ext cx="3090600" cy="3090600"/>
          </a:xfrm>
          <a:prstGeom prst="roundRect">
            <a:avLst>
              <a:gd fmla="val 50000" name="adj"/>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C">
  <p:cSld name="TITLE_AND_BODY_2_1_1_1">
    <p:spTree>
      <p:nvGrpSpPr>
        <p:cNvPr id="48" name="Shape 48"/>
        <p:cNvGrpSpPr/>
        <p:nvPr/>
      </p:nvGrpSpPr>
      <p:grpSpPr>
        <a:xfrm>
          <a:off x="0" y="0"/>
          <a:ext cx="0" cy="0"/>
          <a:chOff x="0" y="0"/>
          <a:chExt cx="0" cy="0"/>
        </a:xfrm>
      </p:grpSpPr>
      <p:sp>
        <p:nvSpPr>
          <p:cNvPr id="49" name="Google Shape;49;p9"/>
          <p:cNvSpPr txBox="1"/>
          <p:nvPr>
            <p:ph type="title"/>
          </p:nvPr>
        </p:nvSpPr>
        <p:spPr>
          <a:xfrm>
            <a:off x="327575" y="289525"/>
            <a:ext cx="35481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 name="Google Shape;50;p9"/>
          <p:cNvSpPr txBox="1"/>
          <p:nvPr>
            <p:ph idx="1" type="body"/>
          </p:nvPr>
        </p:nvSpPr>
        <p:spPr>
          <a:xfrm>
            <a:off x="327575" y="1565671"/>
            <a:ext cx="3548100" cy="32883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1" name="Google Shape;51;p9"/>
          <p:cNvSpPr/>
          <p:nvPr>
            <p:ph idx="2" type="pic"/>
          </p:nvPr>
        </p:nvSpPr>
        <p:spPr>
          <a:xfrm>
            <a:off x="4298349" y="316350"/>
            <a:ext cx="4510800" cy="4510800"/>
          </a:xfrm>
          <a:prstGeom prst="roundRect">
            <a:avLst>
              <a:gd fmla="val 50000" name="adj"/>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B">
  <p:cSld name="TITLE_AND_BODY_2_1_2">
    <p:spTree>
      <p:nvGrpSpPr>
        <p:cNvPr id="52" name="Shape 52"/>
        <p:cNvGrpSpPr/>
        <p:nvPr/>
      </p:nvGrpSpPr>
      <p:grpSpPr>
        <a:xfrm>
          <a:off x="0" y="0"/>
          <a:ext cx="0" cy="0"/>
          <a:chOff x="0" y="0"/>
          <a:chExt cx="0" cy="0"/>
        </a:xfrm>
      </p:grpSpPr>
      <p:sp>
        <p:nvSpPr>
          <p:cNvPr id="53" name="Google Shape;53;p10"/>
          <p:cNvSpPr/>
          <p:nvPr>
            <p:ph idx="2" type="pic"/>
          </p:nvPr>
        </p:nvSpPr>
        <p:spPr>
          <a:xfrm>
            <a:off x="0" y="0"/>
            <a:ext cx="5148000" cy="5143500"/>
          </a:xfrm>
          <a:prstGeom prst="rect">
            <a:avLst/>
          </a:prstGeom>
          <a:noFill/>
          <a:ln>
            <a:noFill/>
          </a:ln>
        </p:spPr>
      </p:sp>
      <p:sp>
        <p:nvSpPr>
          <p:cNvPr id="54" name="Google Shape;54;p10"/>
          <p:cNvSpPr txBox="1"/>
          <p:nvPr>
            <p:ph type="title"/>
          </p:nvPr>
        </p:nvSpPr>
        <p:spPr>
          <a:xfrm>
            <a:off x="5427950" y="289525"/>
            <a:ext cx="34059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 name="Google Shape;55;p10"/>
          <p:cNvSpPr txBox="1"/>
          <p:nvPr>
            <p:ph idx="1" type="body"/>
          </p:nvPr>
        </p:nvSpPr>
        <p:spPr>
          <a:xfrm>
            <a:off x="5427950" y="1565672"/>
            <a:ext cx="3405900" cy="32883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F">
  <p:cSld name="TITLE_AND_BODY_2_1_1_1_1_1_1_1_1">
    <p:spTree>
      <p:nvGrpSpPr>
        <p:cNvPr id="56" name="Shape 56"/>
        <p:cNvGrpSpPr/>
        <p:nvPr/>
      </p:nvGrpSpPr>
      <p:grpSpPr>
        <a:xfrm>
          <a:off x="0" y="0"/>
          <a:ext cx="0" cy="0"/>
          <a:chOff x="0" y="0"/>
          <a:chExt cx="0" cy="0"/>
        </a:xfrm>
      </p:grpSpPr>
      <p:sp>
        <p:nvSpPr>
          <p:cNvPr id="57" name="Google Shape;57;p11"/>
          <p:cNvSpPr txBox="1"/>
          <p:nvPr>
            <p:ph type="title"/>
          </p:nvPr>
        </p:nvSpPr>
        <p:spPr>
          <a:xfrm>
            <a:off x="350350" y="226400"/>
            <a:ext cx="3505500" cy="10944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8" name="Google Shape;58;p11"/>
          <p:cNvSpPr txBox="1"/>
          <p:nvPr>
            <p:ph idx="1" type="body"/>
          </p:nvPr>
        </p:nvSpPr>
        <p:spPr>
          <a:xfrm>
            <a:off x="350350" y="1598500"/>
            <a:ext cx="3505500" cy="3318600"/>
          </a:xfrm>
          <a:prstGeom prst="rect">
            <a:avLst/>
          </a:prstGeom>
          <a:ln>
            <a:noFill/>
          </a:ln>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9" name="Google Shape;59;p11"/>
          <p:cNvSpPr/>
          <p:nvPr>
            <p:ph idx="2" type="pic"/>
          </p:nvPr>
        </p:nvSpPr>
        <p:spPr>
          <a:xfrm>
            <a:off x="4101622" y="226350"/>
            <a:ext cx="4690800" cy="46908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D">
  <p:cSld name="TITLE_AND_BODY_2_1_1_1_1">
    <p:spTree>
      <p:nvGrpSpPr>
        <p:cNvPr id="60" name="Shape 60"/>
        <p:cNvGrpSpPr/>
        <p:nvPr/>
      </p:nvGrpSpPr>
      <p:grpSpPr>
        <a:xfrm>
          <a:off x="0" y="0"/>
          <a:ext cx="0" cy="0"/>
          <a:chOff x="0" y="0"/>
          <a:chExt cx="0" cy="0"/>
        </a:xfrm>
      </p:grpSpPr>
      <p:sp>
        <p:nvSpPr>
          <p:cNvPr id="61" name="Google Shape;61;p12"/>
          <p:cNvSpPr/>
          <p:nvPr>
            <p:ph idx="2" type="pic"/>
          </p:nvPr>
        </p:nvSpPr>
        <p:spPr>
          <a:xfrm>
            <a:off x="296299" y="316350"/>
            <a:ext cx="4510800" cy="4510800"/>
          </a:xfrm>
          <a:prstGeom prst="roundRect">
            <a:avLst>
              <a:gd fmla="val 50000" name="adj"/>
            </a:avLst>
          </a:prstGeom>
          <a:noFill/>
          <a:ln>
            <a:noFill/>
          </a:ln>
        </p:spPr>
      </p:sp>
      <p:sp>
        <p:nvSpPr>
          <p:cNvPr id="62" name="Google Shape;62;p12"/>
          <p:cNvSpPr txBox="1"/>
          <p:nvPr>
            <p:ph type="title"/>
          </p:nvPr>
        </p:nvSpPr>
        <p:spPr>
          <a:xfrm>
            <a:off x="5151925" y="289525"/>
            <a:ext cx="3548100" cy="1093500"/>
          </a:xfrm>
          <a:prstGeom prst="rect">
            <a:avLst/>
          </a:prstGeom>
        </p:spPr>
        <p:txBody>
          <a:bodyPr anchorCtr="0" anchor="t"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2"/>
          <p:cNvSpPr txBox="1"/>
          <p:nvPr>
            <p:ph idx="1" type="body"/>
          </p:nvPr>
        </p:nvSpPr>
        <p:spPr>
          <a:xfrm>
            <a:off x="5151925" y="1565671"/>
            <a:ext cx="3548100" cy="3288300"/>
          </a:xfrm>
          <a:prstGeom prst="rect">
            <a:avLst/>
          </a:prstGeom>
        </p:spPr>
        <p:txBody>
          <a:bodyPr anchorCtr="0" anchor="t" bIns="0" lIns="0" spcFirstLastPara="1" rIns="0" wrap="square" tIns="0">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extLst>
    <p:ext uri="{DCECCB84-F9BA-43D5-87BE-67443E8EF086}">
      <p15:sldGuideLst>
        <p15:guide id="1" pos="288">
          <p15:clr>
            <a:srgbClr val="E46962"/>
          </p15:clr>
        </p15:guide>
        <p15:guide id="2" orient="horz" pos="288">
          <p15:clr>
            <a:srgbClr val="E46962"/>
          </p15:clr>
        </p15:guide>
        <p15:guide id="3" orient="horz" pos="2880">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Quarterly business review">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311825" y="4696689"/>
            <a:ext cx="548700" cy="183000"/>
          </a:xfrm>
          <a:prstGeom prst="rect">
            <a:avLst/>
          </a:prstGeom>
          <a:noFill/>
          <a:ln>
            <a:noFill/>
          </a:ln>
        </p:spPr>
        <p:txBody>
          <a:bodyPr anchorCtr="0" anchor="b" bIns="0" lIns="91425" spcFirstLastPara="1" rIns="0" wrap="square" tIns="0">
            <a:normAutofit/>
          </a:bodyPr>
          <a:lstStyle>
            <a:lvl1pPr lvl="0" algn="r">
              <a:buNone/>
              <a:defRPr sz="800">
                <a:solidFill>
                  <a:schemeClr val="dk1"/>
                </a:solidFill>
                <a:latin typeface="Manrope"/>
                <a:ea typeface="Manrope"/>
                <a:cs typeface="Manrope"/>
                <a:sym typeface="Manrope"/>
              </a:defRPr>
            </a:lvl1pPr>
            <a:lvl2pPr lvl="1" algn="r">
              <a:buNone/>
              <a:defRPr sz="800">
                <a:solidFill>
                  <a:schemeClr val="dk1"/>
                </a:solidFill>
                <a:latin typeface="Manrope"/>
                <a:ea typeface="Manrope"/>
                <a:cs typeface="Manrope"/>
                <a:sym typeface="Manrope"/>
              </a:defRPr>
            </a:lvl2pPr>
            <a:lvl3pPr lvl="2" algn="r">
              <a:buNone/>
              <a:defRPr sz="800">
                <a:solidFill>
                  <a:schemeClr val="dk1"/>
                </a:solidFill>
                <a:latin typeface="Manrope"/>
                <a:ea typeface="Manrope"/>
                <a:cs typeface="Manrope"/>
                <a:sym typeface="Manrope"/>
              </a:defRPr>
            </a:lvl3pPr>
            <a:lvl4pPr lvl="3" algn="r">
              <a:buNone/>
              <a:defRPr sz="800">
                <a:solidFill>
                  <a:schemeClr val="dk1"/>
                </a:solidFill>
                <a:latin typeface="Manrope"/>
                <a:ea typeface="Manrope"/>
                <a:cs typeface="Manrope"/>
                <a:sym typeface="Manrope"/>
              </a:defRPr>
            </a:lvl4pPr>
            <a:lvl5pPr lvl="4" algn="r">
              <a:buNone/>
              <a:defRPr sz="800">
                <a:solidFill>
                  <a:schemeClr val="dk1"/>
                </a:solidFill>
                <a:latin typeface="Manrope"/>
                <a:ea typeface="Manrope"/>
                <a:cs typeface="Manrope"/>
                <a:sym typeface="Manrope"/>
              </a:defRPr>
            </a:lvl5pPr>
            <a:lvl6pPr lvl="5" algn="r">
              <a:buNone/>
              <a:defRPr sz="800">
                <a:solidFill>
                  <a:schemeClr val="dk1"/>
                </a:solidFill>
                <a:latin typeface="Manrope"/>
                <a:ea typeface="Manrope"/>
                <a:cs typeface="Manrope"/>
                <a:sym typeface="Manrope"/>
              </a:defRPr>
            </a:lvl6pPr>
            <a:lvl7pPr lvl="6" algn="r">
              <a:buNone/>
              <a:defRPr sz="800">
                <a:solidFill>
                  <a:schemeClr val="dk1"/>
                </a:solidFill>
                <a:latin typeface="Manrope"/>
                <a:ea typeface="Manrope"/>
                <a:cs typeface="Manrope"/>
                <a:sym typeface="Manrope"/>
              </a:defRPr>
            </a:lvl7pPr>
            <a:lvl8pPr lvl="7" algn="r">
              <a:buNone/>
              <a:defRPr sz="800">
                <a:solidFill>
                  <a:schemeClr val="dk1"/>
                </a:solidFill>
                <a:latin typeface="Manrope"/>
                <a:ea typeface="Manrope"/>
                <a:cs typeface="Manrope"/>
                <a:sym typeface="Manrope"/>
              </a:defRPr>
            </a:lvl8pPr>
            <a:lvl9pPr lvl="8" algn="r">
              <a:buNone/>
              <a:defRPr sz="800">
                <a:solidFill>
                  <a:schemeClr val="dk1"/>
                </a:solidFill>
                <a:latin typeface="Manrope"/>
                <a:ea typeface="Manrope"/>
                <a:cs typeface="Manrope"/>
                <a:sym typeface="Manrope"/>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284700" y="1782325"/>
            <a:ext cx="4287300" cy="2901300"/>
          </a:xfrm>
          <a:prstGeom prst="rect">
            <a:avLst/>
          </a:prstGeom>
          <a:noFill/>
          <a:ln>
            <a:noFill/>
          </a:ln>
        </p:spPr>
        <p:txBody>
          <a:bodyPr anchorCtr="0" anchor="t" bIns="0" lIns="0" spcFirstLastPara="1" rIns="0" wrap="square" tIns="0">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p:txBody>
      </p:sp>
      <p:sp>
        <p:nvSpPr>
          <p:cNvPr id="8" name="Google Shape;8;p1"/>
          <p:cNvSpPr txBox="1"/>
          <p:nvPr>
            <p:ph type="title"/>
          </p:nvPr>
        </p:nvSpPr>
        <p:spPr>
          <a:xfrm>
            <a:off x="283475" y="420225"/>
            <a:ext cx="7323300" cy="572100"/>
          </a:xfrm>
          <a:prstGeom prst="rect">
            <a:avLst/>
          </a:prstGeom>
          <a:noFill/>
          <a:ln>
            <a:noFill/>
          </a:ln>
        </p:spPr>
        <p:txBody>
          <a:bodyPr anchorCtr="0" anchor="t" bIns="0" lIns="0" spcFirstLastPara="1" rIns="0" wrap="square" tIns="0">
            <a:noAutofit/>
          </a:bodyPr>
          <a:lstStyle>
            <a:lvl1pPr lvl="0">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1pPr>
            <a:lvl2pPr lvl="1">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2pPr>
            <a:lvl3pPr lvl="2">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3pPr>
            <a:lvl4pPr lvl="3">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4pPr>
            <a:lvl5pPr lvl="4">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5pPr>
            <a:lvl6pPr lvl="5">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6pPr>
            <a:lvl7pPr lvl="6">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7pPr>
            <a:lvl8pPr lvl="7">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8pPr>
            <a:lvl9pPr lvl="8">
              <a:spcBef>
                <a:spcPts val="0"/>
              </a:spcBef>
              <a:spcAft>
                <a:spcPts val="0"/>
              </a:spcAft>
              <a:buClr>
                <a:schemeClr val="dk1"/>
              </a:buClr>
              <a:buSzPts val="2800"/>
              <a:buFont typeface="Manrope"/>
              <a:buNone/>
              <a:defRPr sz="2800">
                <a:solidFill>
                  <a:schemeClr val="dk1"/>
                </a:solidFill>
                <a:latin typeface="Manrope"/>
                <a:ea typeface="Manrope"/>
                <a:cs typeface="Manrope"/>
                <a:sym typeface="Manrop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00">
          <p15:clr>
            <a:schemeClr val="accent3"/>
          </p15:clr>
        </p15:guide>
        <p15:guide id="2" orient="horz" pos="300">
          <p15:clr>
            <a:schemeClr val="accent3"/>
          </p15:clr>
        </p15:guide>
        <p15:guide id="3" orient="horz" pos="899">
          <p15:clr>
            <a:schemeClr val="accent3"/>
          </p15:clr>
        </p15:guide>
        <p15:guide id="4" pos="1561">
          <p15:clr>
            <a:schemeClr val="accent3"/>
          </p15:clr>
        </p15:guide>
        <p15:guide id="5" pos="1619">
          <p15:clr>
            <a:schemeClr val="accent3"/>
          </p15:clr>
        </p15:guide>
        <p15:guide id="6" orient="horz" pos="962">
          <p15:clr>
            <a:schemeClr val="accent3"/>
          </p15:clr>
        </p15:guide>
        <p15:guide id="7" orient="horz" pos="1561">
          <p15:clr>
            <a:schemeClr val="accent3"/>
          </p15:clr>
        </p15:guide>
        <p15:guide id="8" orient="horz" pos="1619">
          <p15:clr>
            <a:schemeClr val="accent3"/>
          </p15:clr>
        </p15:guide>
        <p15:guide id="9" orient="horz" pos="2281">
          <p15:clr>
            <a:schemeClr val="accent3"/>
          </p15:clr>
        </p15:guide>
        <p15:guide id="10" orient="horz" pos="2339">
          <p15:clr>
            <a:schemeClr val="accent3"/>
          </p15:clr>
        </p15:guide>
        <p15:guide id="11" orient="horz" pos="2943">
          <p15:clr>
            <a:schemeClr val="accent3"/>
          </p15:clr>
        </p15:guide>
        <p15:guide id="12" pos="1981">
          <p15:clr>
            <a:schemeClr val="accent5"/>
          </p15:clr>
        </p15:guide>
        <p15:guide id="13" pos="2039">
          <p15:clr>
            <a:schemeClr val="accent5"/>
          </p15:clr>
        </p15:guide>
        <p15:guide id="14" pos="2880">
          <p15:clr>
            <a:schemeClr val="accent3"/>
          </p15:clr>
        </p15:guide>
        <p15:guide id="15" pos="2938">
          <p15:clr>
            <a:schemeClr val="accent3"/>
          </p15:clr>
        </p15:guide>
        <p15:guide id="16" pos="3721">
          <p15:clr>
            <a:schemeClr val="accent5"/>
          </p15:clr>
        </p15:guide>
        <p15:guide id="17" pos="3779">
          <p15:clr>
            <a:schemeClr val="accent5"/>
          </p15:clr>
        </p15:guide>
        <p15:guide id="18" pos="4141">
          <p15:clr>
            <a:schemeClr val="accent3"/>
          </p15:clr>
        </p15:guide>
        <p15:guide id="19" pos="4199">
          <p15:clr>
            <a:schemeClr val="accent3"/>
          </p15:clr>
        </p15:guide>
        <p15:guide id="20" pos="5460">
          <p15:clr>
            <a:schemeClr val="accent3"/>
          </p15:clr>
        </p15:guide>
        <p15:guide id="21" pos="179">
          <p15:clr>
            <a:schemeClr val="accent1"/>
          </p15:clr>
        </p15:guide>
        <p15:guide id="22" pos="5581">
          <p15:clr>
            <a:schemeClr val="accent1"/>
          </p15:clr>
        </p15:guide>
        <p15:guide id="23" orient="horz" pos="179">
          <p15:clr>
            <a:schemeClr val="accent1"/>
          </p15:clr>
        </p15:guide>
        <p15:guide id="24" orient="horz" pos="3059">
          <p15:clr>
            <a:schemeClr val="accent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8.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28.jp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title"/>
          </p:nvPr>
        </p:nvSpPr>
        <p:spPr>
          <a:xfrm>
            <a:off x="928025" y="226400"/>
            <a:ext cx="7869600" cy="1094400"/>
          </a:xfrm>
          <a:prstGeom prst="rect">
            <a:avLst/>
          </a:prstGeom>
        </p:spPr>
        <p:txBody>
          <a:bodyPr anchorCtr="0" anchor="t" bIns="0" lIns="0" spcFirstLastPara="1" rIns="0" wrap="square" tIns="0">
            <a:normAutofit/>
          </a:bodyPr>
          <a:lstStyle/>
          <a:p>
            <a:pPr indent="0" lvl="0" marL="0" rtl="0" algn="ctr">
              <a:spcBef>
                <a:spcPts val="0"/>
              </a:spcBef>
              <a:spcAft>
                <a:spcPts val="0"/>
              </a:spcAft>
              <a:buNone/>
            </a:pPr>
            <a:r>
              <a:rPr lang="en" sz="4300"/>
              <a:t>Salesforce AI: $20 or less</a:t>
            </a:r>
            <a:endParaRPr sz="4300"/>
          </a:p>
        </p:txBody>
      </p:sp>
      <p:sp>
        <p:nvSpPr>
          <p:cNvPr id="68" name="Google Shape;68;p13"/>
          <p:cNvSpPr txBox="1"/>
          <p:nvPr>
            <p:ph idx="1" type="body"/>
          </p:nvPr>
        </p:nvSpPr>
        <p:spPr>
          <a:xfrm>
            <a:off x="5145700" y="1598500"/>
            <a:ext cx="3651900" cy="3318600"/>
          </a:xfrm>
          <a:prstGeom prst="rect">
            <a:avLst/>
          </a:prstGeom>
          <a:ln>
            <a:noFill/>
          </a:ln>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Reduce meeting preparation time significantly.</a:t>
            </a:r>
            <a:endParaRPr/>
          </a:p>
          <a:p>
            <a:pPr indent="-317500" lvl="0" marL="457200" rtl="0" algn="l">
              <a:spcBef>
                <a:spcPts val="0"/>
              </a:spcBef>
              <a:spcAft>
                <a:spcPts val="0"/>
              </a:spcAft>
              <a:buSzPts val="1400"/>
              <a:buChar char="●"/>
            </a:pPr>
            <a:r>
              <a:rPr lang="en"/>
              <a:t>No code.</a:t>
            </a:r>
            <a:endParaRPr/>
          </a:p>
          <a:p>
            <a:pPr indent="-317500" lvl="0" marL="457200" rtl="0" algn="l">
              <a:spcBef>
                <a:spcPts val="0"/>
              </a:spcBef>
              <a:spcAft>
                <a:spcPts val="0"/>
              </a:spcAft>
              <a:buSzPts val="1400"/>
              <a:buChar char="●"/>
            </a:pPr>
            <a:r>
              <a:rPr lang="en"/>
              <a:t>No integrations.</a:t>
            </a:r>
            <a:endParaRPr/>
          </a:p>
          <a:p>
            <a:pPr indent="-317500" lvl="0" marL="457200" rtl="0" algn="l">
              <a:spcBef>
                <a:spcPts val="0"/>
              </a:spcBef>
              <a:spcAft>
                <a:spcPts val="0"/>
              </a:spcAft>
              <a:buSzPts val="1400"/>
              <a:buChar char="●"/>
            </a:pPr>
            <a:r>
              <a:rPr lang="en"/>
              <a:t>No contracts.</a:t>
            </a:r>
            <a:endParaRPr/>
          </a:p>
          <a:p>
            <a:pPr indent="0" lvl="0" marL="0" rtl="0" algn="l">
              <a:spcBef>
                <a:spcPts val="0"/>
              </a:spcBef>
              <a:spcAft>
                <a:spcPts val="0"/>
              </a:spcAft>
              <a:buNone/>
            </a:pPr>
            <a:r>
              <a:t/>
            </a:r>
            <a:endParaRPr/>
          </a:p>
        </p:txBody>
      </p:sp>
      <p:pic>
        <p:nvPicPr>
          <p:cNvPr id="69" name="Google Shape;69;p13"/>
          <p:cNvPicPr preferRelativeResize="0"/>
          <p:nvPr>
            <p:ph idx="2" type="pic"/>
          </p:nvPr>
        </p:nvPicPr>
        <p:blipFill>
          <a:blip r:embed="rId3">
            <a:alphaModFix/>
          </a:blip>
          <a:stretch>
            <a:fillRect/>
          </a:stretch>
        </p:blipFill>
        <p:spPr>
          <a:xfrm>
            <a:off x="601325" y="1598500"/>
            <a:ext cx="3318600" cy="3318600"/>
          </a:xfrm>
          <a:prstGeom prst="rect">
            <a:avLst/>
          </a:prstGeom>
          <a:noFill/>
        </p:spPr>
      </p:pic>
      <p:pic>
        <p:nvPicPr>
          <p:cNvPr id="70" name="Google Shape;70;p13"/>
          <p:cNvPicPr preferRelativeResize="0"/>
          <p:nvPr/>
        </p:nvPicPr>
        <p:blipFill>
          <a:blip r:embed="rId4">
            <a:alphaModFix/>
          </a:blip>
          <a:stretch>
            <a:fillRect/>
          </a:stretch>
        </p:blipFill>
        <p:spPr>
          <a:xfrm>
            <a:off x="6919200" y="2897388"/>
            <a:ext cx="1750775" cy="1750775"/>
          </a:xfrm>
          <a:prstGeom prst="rect">
            <a:avLst/>
          </a:prstGeom>
          <a:noFill/>
          <a:ln>
            <a:noFill/>
          </a:ln>
        </p:spPr>
      </p:pic>
      <p:pic>
        <p:nvPicPr>
          <p:cNvPr id="71" name="Google Shape;71;p13"/>
          <p:cNvPicPr preferRelativeResize="0"/>
          <p:nvPr/>
        </p:nvPicPr>
        <p:blipFill>
          <a:blip r:embed="rId5">
            <a:alphaModFix/>
          </a:blip>
          <a:stretch>
            <a:fillRect/>
          </a:stretch>
        </p:blipFill>
        <p:spPr>
          <a:xfrm>
            <a:off x="5007225" y="2872975"/>
            <a:ext cx="1799600" cy="179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Use Case</a:t>
            </a:r>
            <a:endParaRPr/>
          </a:p>
        </p:txBody>
      </p:sp>
      <p:sp>
        <p:nvSpPr>
          <p:cNvPr id="76" name="Google Shape;76;p14"/>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Development officers spend significant time researching donor information.</a:t>
            </a:r>
            <a:endParaRPr/>
          </a:p>
          <a:p>
            <a:pPr indent="-317500" lvl="0" marL="457200" rtl="0" algn="l">
              <a:spcBef>
                <a:spcPts val="0"/>
              </a:spcBef>
              <a:spcAft>
                <a:spcPts val="0"/>
              </a:spcAft>
              <a:buSzPts val="1400"/>
              <a:buChar char="●"/>
            </a:pPr>
            <a:r>
              <a:rPr lang="en"/>
              <a:t>Data is currently fragmented across many Salesforce objects.</a:t>
            </a:r>
            <a:endParaRPr/>
          </a:p>
          <a:p>
            <a:pPr indent="-317500" lvl="0" marL="457200" rtl="0" algn="l">
              <a:spcBef>
                <a:spcPts val="0"/>
              </a:spcBef>
              <a:spcAft>
                <a:spcPts val="0"/>
              </a:spcAft>
              <a:buSzPts val="1400"/>
              <a:buChar char="●"/>
            </a:pPr>
            <a:r>
              <a:rPr lang="en"/>
              <a:t>Manual tab-switching greatly increases necessary preparation time.</a:t>
            </a:r>
            <a:endParaRPr/>
          </a:p>
          <a:p>
            <a:pPr indent="-317500" lvl="0" marL="457200" rtl="0" algn="l">
              <a:spcBef>
                <a:spcPts val="0"/>
              </a:spcBef>
              <a:spcAft>
                <a:spcPts val="0"/>
              </a:spcAft>
              <a:buSzPts val="1400"/>
              <a:buChar char="●"/>
            </a:pPr>
            <a:r>
              <a:rPr lang="en"/>
              <a:t>Fundraisers risk overlooking critical details before important meetings.</a:t>
            </a:r>
            <a:endParaRPr/>
          </a:p>
        </p:txBody>
      </p:sp>
      <p:pic>
        <p:nvPicPr>
          <p:cNvPr id="77" name="Google Shape;77;p14"/>
          <p:cNvPicPr preferRelativeResize="0"/>
          <p:nvPr>
            <p:ph idx="2" type="pic"/>
          </p:nvPr>
        </p:nvPicPr>
        <p:blipFill>
          <a:blip r:embed="rId3">
            <a:alphaModFix/>
          </a:blip>
          <a:stretch>
            <a:fillRect/>
          </a:stretch>
        </p:blipFill>
        <p:spPr>
          <a:xfrm>
            <a:off x="457200" y="1519300"/>
            <a:ext cx="3090600" cy="3090600"/>
          </a:xfrm>
          <a:prstGeom prst="roundRect">
            <a:avLst>
              <a:gd fmla="val 50000" name="adj"/>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27575" y="289525"/>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Demo Time!</a:t>
            </a:r>
            <a:endParaRPr/>
          </a:p>
        </p:txBody>
      </p:sp>
      <p:pic>
        <p:nvPicPr>
          <p:cNvPr id="82" name="Google Shape;82;p15"/>
          <p:cNvPicPr preferRelativeResize="0"/>
          <p:nvPr>
            <p:ph idx="2" type="pic"/>
          </p:nvPr>
        </p:nvPicPr>
        <p:blipFill>
          <a:blip r:embed="rId3">
            <a:alphaModFix/>
          </a:blip>
          <a:stretch>
            <a:fillRect/>
          </a:stretch>
        </p:blipFill>
        <p:spPr>
          <a:xfrm>
            <a:off x="3145524" y="444600"/>
            <a:ext cx="4510800" cy="4510800"/>
          </a:xfrm>
          <a:prstGeom prst="roundRect">
            <a:avLst>
              <a:gd fmla="val 50000" name="adj"/>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27575" y="340500"/>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The $20 Solution</a:t>
            </a:r>
            <a:endParaRPr/>
          </a:p>
        </p:txBody>
      </p:sp>
      <p:sp>
        <p:nvSpPr>
          <p:cNvPr id="87" name="Google Shape;87;p16"/>
          <p:cNvSpPr txBox="1"/>
          <p:nvPr>
            <p:ph idx="1" type="body"/>
          </p:nvPr>
        </p:nvSpPr>
        <p:spPr>
          <a:xfrm>
            <a:off x="327575" y="1345921"/>
            <a:ext cx="3548100" cy="32883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Screen Flow automatically pulls all donor data from Salesforce NPSP.</a:t>
            </a:r>
            <a:endParaRPr/>
          </a:p>
          <a:p>
            <a:pPr indent="-317500" lvl="0" marL="457200" rtl="0" algn="l">
              <a:spcBef>
                <a:spcPts val="0"/>
              </a:spcBef>
              <a:spcAft>
                <a:spcPts val="0"/>
              </a:spcAft>
              <a:buSzPts val="1400"/>
              <a:buChar char="●"/>
            </a:pPr>
            <a:r>
              <a:rPr lang="en"/>
              <a:t>All collected data converts into AI-ready JSON format for processing.</a:t>
            </a:r>
            <a:endParaRPr/>
          </a:p>
          <a:p>
            <a:pPr indent="-317500" lvl="0" marL="457200" rtl="0" algn="l">
              <a:spcBef>
                <a:spcPts val="0"/>
              </a:spcBef>
              <a:spcAft>
                <a:spcPts val="0"/>
              </a:spcAft>
              <a:buSzPts val="1400"/>
              <a:buChar char="●"/>
            </a:pPr>
            <a:r>
              <a:rPr lang="en"/>
              <a:t>A single-click button copies the structured data to the clipboard.</a:t>
            </a:r>
            <a:endParaRPr/>
          </a:p>
          <a:p>
            <a:pPr indent="-317500" lvl="0" marL="457200" rtl="0" algn="l">
              <a:spcBef>
                <a:spcPts val="0"/>
              </a:spcBef>
              <a:spcAft>
                <a:spcPts val="0"/>
              </a:spcAft>
              <a:buSzPts val="1400"/>
              <a:buChar char="●"/>
            </a:pPr>
            <a:r>
              <a:rPr lang="en"/>
              <a:t>Paste data into any LLM to generate a professional donor brief quickly.</a:t>
            </a:r>
            <a:endParaRPr/>
          </a:p>
          <a:p>
            <a:pPr indent="-317500" lvl="0" marL="457200" rtl="0" algn="l">
              <a:spcBef>
                <a:spcPts val="0"/>
              </a:spcBef>
              <a:spcAft>
                <a:spcPts val="0"/>
              </a:spcAft>
              <a:buSzPts val="1400"/>
              <a:buChar char="●"/>
            </a:pPr>
            <a:r>
              <a:rPr lang="en"/>
              <a:t>Generate high-quality professional donor briefs in less than 30 seconds.</a:t>
            </a:r>
            <a:endParaRPr/>
          </a:p>
        </p:txBody>
      </p:sp>
      <p:pic>
        <p:nvPicPr>
          <p:cNvPr id="88" name="Google Shape;88;p16"/>
          <p:cNvPicPr preferRelativeResize="0"/>
          <p:nvPr/>
        </p:nvPicPr>
        <p:blipFill>
          <a:blip r:embed="rId3">
            <a:alphaModFix/>
          </a:blip>
          <a:stretch>
            <a:fillRect/>
          </a:stretch>
        </p:blipFill>
        <p:spPr>
          <a:xfrm>
            <a:off x="3875675" y="969400"/>
            <a:ext cx="4963524" cy="301725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2624150" y="283475"/>
            <a:ext cx="3651900" cy="1094400"/>
          </a:xfrm>
          <a:prstGeom prst="rect">
            <a:avLst/>
          </a:prstGeom>
        </p:spPr>
        <p:txBody>
          <a:bodyPr anchorCtr="0" anchor="t" bIns="0" lIns="0" spcFirstLastPara="1" rIns="0" wrap="square" tIns="0">
            <a:normAutofit/>
          </a:bodyPr>
          <a:lstStyle/>
          <a:p>
            <a:pPr indent="0" lvl="0" marL="0" rtl="0" algn="ctr">
              <a:spcBef>
                <a:spcPts val="0"/>
              </a:spcBef>
              <a:spcAft>
                <a:spcPts val="0"/>
              </a:spcAft>
              <a:buNone/>
            </a:pPr>
            <a:r>
              <a:rPr lang="en"/>
              <a:t>Why JSON?</a:t>
            </a:r>
            <a:endParaRPr/>
          </a:p>
        </p:txBody>
      </p:sp>
      <p:graphicFrame>
        <p:nvGraphicFramePr>
          <p:cNvPr id="93" name="Google Shape;93;p17"/>
          <p:cNvGraphicFramePr/>
          <p:nvPr/>
        </p:nvGraphicFramePr>
        <p:xfrm>
          <a:off x="282863" y="863050"/>
          <a:ext cx="3000000" cy="3000000"/>
        </p:xfrm>
        <a:graphic>
          <a:graphicData uri="http://schemas.openxmlformats.org/drawingml/2006/table">
            <a:tbl>
              <a:tblPr>
                <a:noFill/>
                <a:tableStyleId>{CACAC44B-D3BF-4BC1-9598-8C8F3237D144}</a:tableStyleId>
              </a:tblPr>
              <a:tblGrid>
                <a:gridCol w="1783450"/>
                <a:gridCol w="1060750"/>
                <a:gridCol w="2179775"/>
                <a:gridCol w="1596950"/>
                <a:gridCol w="1713525"/>
              </a:tblGrid>
              <a:tr h="431025">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Metric</a:t>
                      </a:r>
                      <a:endParaRPr sz="1000">
                        <a:solidFill>
                          <a:srgbClr val="FFFFFF"/>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535FC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JSON</a:t>
                      </a:r>
                      <a:endParaRPr sz="1000">
                        <a:solidFill>
                          <a:srgbClr val="FFFFFF"/>
                        </a:solidFill>
                        <a:latin typeface="Roboto"/>
                        <a:ea typeface="Roboto"/>
                        <a:cs typeface="Roboto"/>
                        <a:sym typeface="Roboto"/>
                      </a:endParaRPr>
                    </a:p>
                  </a:txBody>
                  <a:tcPr marT="19050" marB="19050" marR="76200" marL="76200" anchor="ctr">
                    <a:lnL cap="flat" cmpd="sng" w="9525">
                      <a:solidFill>
                        <a:srgbClr val="535FC1"/>
                      </a:solidFill>
                      <a:prstDash val="solid"/>
                      <a:round/>
                      <a:headEnd len="sm" w="sm" type="none"/>
                      <a:tailEnd len="sm" w="sm" type="none"/>
                    </a:lnL>
                    <a:lnR cap="flat" cmpd="sng" w="9525">
                      <a:solidFill>
                        <a:srgbClr val="535FC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Natural Language</a:t>
                      </a:r>
                      <a:endParaRPr sz="1000">
                        <a:solidFill>
                          <a:srgbClr val="FFFFFF"/>
                        </a:solidFill>
                        <a:latin typeface="Roboto"/>
                        <a:ea typeface="Roboto"/>
                        <a:cs typeface="Roboto"/>
                        <a:sym typeface="Roboto"/>
                      </a:endParaRPr>
                    </a:p>
                  </a:txBody>
                  <a:tcPr marT="19050" marB="19050" marR="76200" marL="76200" anchor="ctr">
                    <a:lnL cap="flat" cmpd="sng" w="9525">
                      <a:solidFill>
                        <a:srgbClr val="535FC1"/>
                      </a:solidFill>
                      <a:prstDash val="solid"/>
                      <a:round/>
                      <a:headEnd len="sm" w="sm" type="none"/>
                      <a:tailEnd len="sm" w="sm" type="none"/>
                    </a:lnL>
                    <a:lnR cap="flat" cmpd="sng" w="9525">
                      <a:solidFill>
                        <a:srgbClr val="535FC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Winner</a:t>
                      </a:r>
                      <a:endParaRPr sz="1000">
                        <a:solidFill>
                          <a:srgbClr val="FFFFFF"/>
                        </a:solidFill>
                        <a:latin typeface="Roboto"/>
                        <a:ea typeface="Roboto"/>
                        <a:cs typeface="Roboto"/>
                        <a:sym typeface="Roboto"/>
                      </a:endParaRPr>
                    </a:p>
                  </a:txBody>
                  <a:tcPr marT="19050" marB="19050" marR="76200" marL="76200" anchor="ctr">
                    <a:lnL cap="flat" cmpd="sng" w="9525">
                      <a:solidFill>
                        <a:srgbClr val="535FC1"/>
                      </a:solidFill>
                      <a:prstDash val="solid"/>
                      <a:round/>
                      <a:headEnd len="sm" w="sm" type="none"/>
                      <a:tailEnd len="sm" w="sm" type="none"/>
                    </a:lnL>
                    <a:lnR cap="flat" cmpd="sng" w="9525">
                      <a:solidFill>
                        <a:srgbClr val="535FC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Improvement</a:t>
                      </a:r>
                      <a:endParaRPr sz="1000">
                        <a:solidFill>
                          <a:srgbClr val="FFFFFF"/>
                        </a:solidFill>
                        <a:latin typeface="Roboto"/>
                        <a:ea typeface="Roboto"/>
                        <a:cs typeface="Roboto"/>
                        <a:sym typeface="Roboto"/>
                      </a:endParaRPr>
                    </a:p>
                  </a:txBody>
                  <a:tcPr marT="19050" marB="19050" marR="76200" marL="76200" anchor="ctr">
                    <a:lnL cap="flat" cmpd="sng" w="9525">
                      <a:solidFill>
                        <a:srgbClr val="535FC1"/>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Token Efficiency</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25 tokens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35 tokens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a:solidFill>
                            <a:srgbClr val="434343"/>
                          </a:solidFill>
                          <a:latin typeface="Roboto"/>
                          <a:ea typeface="Roboto"/>
                          <a:cs typeface="Roboto"/>
                          <a:sym typeface="Roboto"/>
                        </a:rPr>
                        <a:t>40% fewer</a:t>
                      </a:r>
                      <a:endParaRPr b="1">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Accuracy Rate</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87%</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71%</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22.5% better</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Consistency</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94%</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78%</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20% better</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Error Rate</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5%</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15%</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b="1" lang="en" sz="1300">
                          <a:solidFill>
                            <a:srgbClr val="434343"/>
                          </a:solidFill>
                          <a:latin typeface="Roboto"/>
                          <a:ea typeface="Roboto"/>
                          <a:cs typeface="Roboto"/>
                          <a:sym typeface="Roboto"/>
                        </a:rPr>
                        <a:t>67% reduction</a:t>
                      </a:r>
                      <a:endParaRPr b="1" sz="13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Cost per Brief</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$0.06</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$0.09</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33% savings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Processing Time</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0.5s</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1.0s</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b="1" lang="en" sz="1000">
                          <a:solidFill>
                            <a:srgbClr val="434343"/>
                          </a:solidFill>
                          <a:latin typeface="Roboto"/>
                          <a:ea typeface="Roboto"/>
                          <a:cs typeface="Roboto"/>
                          <a:sym typeface="Roboto"/>
                        </a:rPr>
                        <a:t>50% faster</a:t>
                      </a:r>
                      <a:endParaRPr b="1"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Hallucination Risk</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b="1" lang="en" sz="1600">
                          <a:solidFill>
                            <a:srgbClr val="434343"/>
                          </a:solidFill>
                          <a:latin typeface="Roboto"/>
                          <a:ea typeface="Roboto"/>
                          <a:cs typeface="Roboto"/>
                          <a:sym typeface="Roboto"/>
                        </a:rPr>
                        <a:t>Low</a:t>
                      </a:r>
                      <a:endParaRPr b="1" sz="16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Medium</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431025">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Data Density</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High</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Low</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JSON</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Prerequisites for Setup</a:t>
            </a:r>
            <a:endParaRPr/>
          </a:p>
        </p:txBody>
      </p:sp>
      <p:sp>
        <p:nvSpPr>
          <p:cNvPr id="98" name="Google Shape;98;p18"/>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2-4 UnofficialSF packages</a:t>
            </a:r>
            <a:endParaRPr/>
          </a:p>
          <a:p>
            <a:pPr indent="-317500" lvl="0" marL="457200" rtl="0" algn="l">
              <a:spcBef>
                <a:spcPts val="0"/>
              </a:spcBef>
              <a:spcAft>
                <a:spcPts val="0"/>
              </a:spcAft>
              <a:buSzPts val="1400"/>
              <a:buChar char="●"/>
            </a:pPr>
            <a:r>
              <a:rPr lang="en"/>
              <a:t>LLM subscription ($20)</a:t>
            </a:r>
            <a:endParaRPr/>
          </a:p>
          <a:p>
            <a:pPr indent="-317500" lvl="0" marL="457200" rtl="0" algn="l">
              <a:spcBef>
                <a:spcPts val="0"/>
              </a:spcBef>
              <a:spcAft>
                <a:spcPts val="0"/>
              </a:spcAft>
              <a:buSzPts val="1400"/>
              <a:buChar char="●"/>
            </a:pPr>
            <a:r>
              <a:rPr lang="en"/>
              <a:t>Prompt knowledge (useful, not required)</a:t>
            </a:r>
            <a:endParaRPr/>
          </a:p>
        </p:txBody>
      </p:sp>
      <p:pic>
        <p:nvPicPr>
          <p:cNvPr id="99" name="Google Shape;99;p18"/>
          <p:cNvPicPr preferRelativeResize="0"/>
          <p:nvPr>
            <p:ph idx="2" type="pic"/>
          </p:nvPr>
        </p:nvPicPr>
        <p:blipFill>
          <a:blip r:embed="rId3">
            <a:alphaModFix/>
          </a:blip>
          <a:stretch>
            <a:fillRect/>
          </a:stretch>
        </p:blipFill>
        <p:spPr>
          <a:xfrm>
            <a:off x="507438" y="1534500"/>
            <a:ext cx="3090600" cy="30906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27575" y="340500"/>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Get Data</a:t>
            </a:r>
            <a:endParaRPr/>
          </a:p>
        </p:txBody>
      </p:sp>
      <p:sp>
        <p:nvSpPr>
          <p:cNvPr id="104" name="Google Shape;104;p19"/>
          <p:cNvSpPr txBox="1"/>
          <p:nvPr>
            <p:ph idx="1" type="body"/>
          </p:nvPr>
        </p:nvSpPr>
        <p:spPr>
          <a:xfrm>
            <a:off x="327575" y="1616646"/>
            <a:ext cx="3548100" cy="32883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Retrieve contact and household account records.</a:t>
            </a:r>
            <a:endParaRPr/>
          </a:p>
          <a:p>
            <a:pPr indent="-317500" lvl="0" marL="457200" rtl="0" algn="l">
              <a:spcBef>
                <a:spcPts val="0"/>
              </a:spcBef>
              <a:spcAft>
                <a:spcPts val="0"/>
              </a:spcAft>
              <a:buSzPts val="1400"/>
              <a:buChar char="●"/>
            </a:pPr>
            <a:r>
              <a:rPr lang="en"/>
              <a:t>Retrieve junctionless objects.</a:t>
            </a:r>
            <a:endParaRPr/>
          </a:p>
          <a:p>
            <a:pPr indent="0" lvl="0" marL="0" rtl="0" algn="l">
              <a:spcBef>
                <a:spcPts val="0"/>
              </a:spcBef>
              <a:spcAft>
                <a:spcPts val="0"/>
              </a:spcAft>
              <a:buNone/>
            </a:pPr>
            <a:r>
              <a:t/>
            </a:r>
            <a:endParaRPr/>
          </a:p>
        </p:txBody>
      </p:sp>
      <p:pic>
        <p:nvPicPr>
          <p:cNvPr id="105" name="Google Shape;105;p19"/>
          <p:cNvPicPr preferRelativeResize="0"/>
          <p:nvPr/>
        </p:nvPicPr>
        <p:blipFill>
          <a:blip r:embed="rId3">
            <a:alphaModFix/>
          </a:blip>
          <a:stretch>
            <a:fillRect/>
          </a:stretch>
        </p:blipFill>
        <p:spPr>
          <a:xfrm>
            <a:off x="4996925" y="59800"/>
            <a:ext cx="2896425" cy="2793900"/>
          </a:xfrm>
          <a:prstGeom prst="rect">
            <a:avLst/>
          </a:prstGeom>
          <a:noFill/>
          <a:ln>
            <a:noFill/>
          </a:ln>
        </p:spPr>
      </p:pic>
      <p:pic>
        <p:nvPicPr>
          <p:cNvPr id="106" name="Google Shape;106;p19"/>
          <p:cNvPicPr preferRelativeResize="0"/>
          <p:nvPr/>
        </p:nvPicPr>
        <p:blipFill>
          <a:blip r:embed="rId4">
            <a:alphaModFix/>
          </a:blip>
          <a:stretch>
            <a:fillRect/>
          </a:stretch>
        </p:blipFill>
        <p:spPr>
          <a:xfrm>
            <a:off x="4810613" y="2853700"/>
            <a:ext cx="3425800" cy="1925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5145700" y="226400"/>
            <a:ext cx="3651900" cy="109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Related Records</a:t>
            </a:r>
            <a:endParaRPr/>
          </a:p>
        </p:txBody>
      </p:sp>
      <p:sp>
        <p:nvSpPr>
          <p:cNvPr id="111" name="Google Shape;111;p20"/>
          <p:cNvSpPr txBox="1"/>
          <p:nvPr>
            <p:ph idx="1" type="body"/>
          </p:nvPr>
        </p:nvSpPr>
        <p:spPr>
          <a:xfrm>
            <a:off x="5145700" y="1598500"/>
            <a:ext cx="3651900" cy="3318600"/>
          </a:xfrm>
          <a:prstGeom prst="rect">
            <a:avLst/>
          </a:prstGeom>
          <a:ln>
            <a:noFill/>
          </a:ln>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Loop Pattern captures giving history and engagement data.</a:t>
            </a:r>
            <a:endParaRPr/>
          </a:p>
          <a:p>
            <a:pPr indent="-317500" lvl="1" marL="914400" rtl="0" algn="l">
              <a:spcBef>
                <a:spcPts val="0"/>
              </a:spcBef>
              <a:spcAft>
                <a:spcPts val="0"/>
              </a:spcAft>
              <a:buSzPts val="1400"/>
              <a:buChar char="○"/>
            </a:pPr>
            <a:r>
              <a:rPr lang="en"/>
              <a:t>Requires querying related junction records for IDs.</a:t>
            </a:r>
            <a:endParaRPr/>
          </a:p>
          <a:p>
            <a:pPr indent="-317500" lvl="0" marL="457200" rtl="0" algn="l">
              <a:spcBef>
                <a:spcPts val="0"/>
              </a:spcBef>
              <a:spcAft>
                <a:spcPts val="0"/>
              </a:spcAft>
              <a:buSzPts val="1400"/>
              <a:buChar char="●"/>
            </a:pPr>
            <a:r>
              <a:rPr lang="en"/>
              <a:t>Opportunities use OpportunityContactRole to find won records.</a:t>
            </a:r>
            <a:endParaRPr/>
          </a:p>
          <a:p>
            <a:pPr indent="-317500" lvl="0" marL="457200" rtl="0" algn="l">
              <a:spcBef>
                <a:spcPts val="0"/>
              </a:spcBef>
              <a:spcAft>
                <a:spcPts val="0"/>
              </a:spcAft>
              <a:buSzPts val="1400"/>
              <a:buChar char="●"/>
            </a:pPr>
            <a:r>
              <a:rPr lang="en"/>
              <a:t>Campaigns use CampaignMember to identify responsive campaigns.</a:t>
            </a:r>
            <a:endParaRPr/>
          </a:p>
          <a:p>
            <a:pPr indent="-317500" lvl="0" marL="457200" rtl="0" algn="l">
              <a:spcBef>
                <a:spcPts val="0"/>
              </a:spcBef>
              <a:spcAft>
                <a:spcPts val="0"/>
              </a:spcAft>
              <a:buSzPts val="1400"/>
              <a:buChar char="●"/>
            </a:pPr>
            <a:r>
              <a:rPr lang="en"/>
              <a:t>Extracted IDs are used to query the full Opportunity and Campaign records.</a:t>
            </a:r>
            <a:endParaRPr/>
          </a:p>
          <a:p>
            <a:pPr indent="-317500" lvl="1" marL="914400" rtl="0" algn="l">
              <a:spcBef>
                <a:spcPts val="0"/>
              </a:spcBef>
              <a:spcAft>
                <a:spcPts val="0"/>
              </a:spcAft>
              <a:buSzPts val="1400"/>
              <a:buChar char="○"/>
            </a:pPr>
            <a:r>
              <a:rPr lang="en"/>
              <a:t>Better Practice: Use USF Get-In Action (increase performance)</a:t>
            </a:r>
            <a:endParaRPr/>
          </a:p>
        </p:txBody>
      </p:sp>
      <p:pic>
        <p:nvPicPr>
          <p:cNvPr id="112" name="Google Shape;112;p20"/>
          <p:cNvPicPr preferRelativeResize="0"/>
          <p:nvPr/>
        </p:nvPicPr>
        <p:blipFill>
          <a:blip r:embed="rId3">
            <a:alphaModFix/>
          </a:blip>
          <a:stretch>
            <a:fillRect/>
          </a:stretch>
        </p:blipFill>
        <p:spPr>
          <a:xfrm>
            <a:off x="152400" y="152400"/>
            <a:ext cx="4840900" cy="43964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Data Transforms and Join</a:t>
            </a:r>
            <a:endParaRPr/>
          </a:p>
        </p:txBody>
      </p:sp>
      <p:sp>
        <p:nvSpPr>
          <p:cNvPr id="117" name="Google Shape;117;p21"/>
          <p:cNvSpPr txBox="1"/>
          <p:nvPr>
            <p:ph idx="1" type="body"/>
          </p:nvPr>
        </p:nvSpPr>
        <p:spPr>
          <a:xfrm>
            <a:off x="475506" y="1024176"/>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Joins create complete records for improved readability.</a:t>
            </a:r>
            <a:endParaRPr/>
          </a:p>
          <a:p>
            <a:pPr indent="-317500" lvl="0" marL="457200" rtl="0" algn="l">
              <a:spcBef>
                <a:spcPts val="0"/>
              </a:spcBef>
              <a:spcAft>
                <a:spcPts val="0"/>
              </a:spcAft>
              <a:buSzPts val="1400"/>
              <a:buChar char="●"/>
            </a:pPr>
            <a:r>
              <a:rPr lang="en"/>
              <a:t>Inner join links Contact Roles with Won Opportunities.</a:t>
            </a:r>
            <a:endParaRPr/>
          </a:p>
          <a:p>
            <a:pPr indent="-317500" lvl="0" marL="457200" rtl="0" algn="l">
              <a:spcBef>
                <a:spcPts val="0"/>
              </a:spcBef>
              <a:spcAft>
                <a:spcPts val="0"/>
              </a:spcAft>
              <a:buSzPts val="1400"/>
              <a:buChar char="●"/>
            </a:pPr>
            <a:r>
              <a:rPr lang="en"/>
              <a:t>Another inner join connects Campaigns with their Members.</a:t>
            </a:r>
            <a:endParaRPr/>
          </a:p>
          <a:p>
            <a:pPr indent="0" lvl="0" marL="0" rtl="0" algn="l">
              <a:spcBef>
                <a:spcPts val="0"/>
              </a:spcBef>
              <a:spcAft>
                <a:spcPts val="0"/>
              </a:spcAft>
              <a:buNone/>
            </a:pPr>
            <a:r>
              <a:t/>
            </a:r>
            <a:endParaRPr/>
          </a:p>
        </p:txBody>
      </p:sp>
      <p:pic>
        <p:nvPicPr>
          <p:cNvPr id="118" name="Google Shape;118;p21"/>
          <p:cNvPicPr preferRelativeResize="0"/>
          <p:nvPr/>
        </p:nvPicPr>
        <p:blipFill>
          <a:blip r:embed="rId3">
            <a:alphaModFix/>
          </a:blip>
          <a:stretch>
            <a:fillRect/>
          </a:stretch>
        </p:blipFill>
        <p:spPr>
          <a:xfrm>
            <a:off x="2080634" y="1826450"/>
            <a:ext cx="2947441" cy="3090601"/>
          </a:xfrm>
          <a:prstGeom prst="rect">
            <a:avLst/>
          </a:prstGeom>
          <a:noFill/>
          <a:ln>
            <a:noFill/>
          </a:ln>
        </p:spPr>
      </p:pic>
      <p:pic>
        <p:nvPicPr>
          <p:cNvPr id="119" name="Google Shape;119;p21"/>
          <p:cNvPicPr preferRelativeResize="0"/>
          <p:nvPr/>
        </p:nvPicPr>
        <p:blipFill>
          <a:blip r:embed="rId4">
            <a:alphaModFix/>
          </a:blip>
          <a:stretch>
            <a:fillRect/>
          </a:stretch>
        </p:blipFill>
        <p:spPr>
          <a:xfrm>
            <a:off x="5388832" y="1462925"/>
            <a:ext cx="3581394" cy="331118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Serialize to JSON</a:t>
            </a:r>
            <a:endParaRPr/>
          </a:p>
        </p:txBody>
      </p:sp>
      <p:sp>
        <p:nvSpPr>
          <p:cNvPr id="124" name="Google Shape;124;p22"/>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'SerializeSObjectToJSON' actions convert related records. </a:t>
            </a:r>
            <a:endParaRPr/>
          </a:p>
          <a:p>
            <a:pPr indent="-317500" lvl="1" marL="914400" rtl="0" algn="l">
              <a:spcBef>
                <a:spcPts val="0"/>
              </a:spcBef>
              <a:spcAft>
                <a:spcPts val="0"/>
              </a:spcAft>
              <a:buSzPts val="1400"/>
              <a:buChar char="○"/>
            </a:pPr>
            <a:r>
              <a:rPr lang="en"/>
              <a:t>This step transforms complex Salesforce records into simple text</a:t>
            </a:r>
            <a:endParaRPr/>
          </a:p>
          <a:p>
            <a:pPr indent="-317500" lvl="1" marL="914400" rtl="0" algn="l">
              <a:spcBef>
                <a:spcPts val="0"/>
              </a:spcBef>
              <a:spcAft>
                <a:spcPts val="0"/>
              </a:spcAft>
              <a:buSzPts val="1400"/>
              <a:buChar char="○"/>
            </a:pPr>
            <a:r>
              <a:rPr lang="en"/>
              <a:t>The resulting JSON format is easy for LLMs to parse and understand</a:t>
            </a:r>
            <a:endParaRPr/>
          </a:p>
          <a:p>
            <a:pPr indent="-317500" lvl="0" marL="457200" rtl="0" algn="l">
              <a:spcBef>
                <a:spcPts val="0"/>
              </a:spcBef>
              <a:spcAft>
                <a:spcPts val="0"/>
              </a:spcAft>
              <a:buSzPts val="1400"/>
              <a:buChar char="●"/>
            </a:pPr>
            <a:r>
              <a:rPr lang="en"/>
              <a:t>This process serializes Affiliations, Relationships, Opportunities (Transformed), and Campaigns (Transformed)</a:t>
            </a:r>
            <a:endParaRPr/>
          </a:p>
        </p:txBody>
      </p:sp>
      <p:pic>
        <p:nvPicPr>
          <p:cNvPr id="125" name="Google Shape;125;p22"/>
          <p:cNvPicPr preferRelativeResize="0"/>
          <p:nvPr/>
        </p:nvPicPr>
        <p:blipFill>
          <a:blip r:embed="rId3">
            <a:alphaModFix/>
          </a:blip>
          <a:stretch>
            <a:fillRect/>
          </a:stretch>
        </p:blipFill>
        <p:spPr>
          <a:xfrm>
            <a:off x="475500" y="1271100"/>
            <a:ext cx="2950554" cy="3711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3"/>
          <p:cNvSpPr txBox="1"/>
          <p:nvPr>
            <p:ph type="title"/>
          </p:nvPr>
        </p:nvSpPr>
        <p:spPr>
          <a:xfrm>
            <a:off x="327575" y="340500"/>
            <a:ext cx="74874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Text Templates</a:t>
            </a:r>
            <a:endParaRPr/>
          </a:p>
        </p:txBody>
      </p:sp>
      <p:sp>
        <p:nvSpPr>
          <p:cNvPr id="130" name="Google Shape;130;p23"/>
          <p:cNvSpPr txBox="1"/>
          <p:nvPr>
            <p:ph idx="1" type="body"/>
          </p:nvPr>
        </p:nvSpPr>
        <p:spPr>
          <a:xfrm>
            <a:off x="327575" y="1616646"/>
            <a:ext cx="3548100" cy="32883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First template guides AI on desired donor brief output format</a:t>
            </a:r>
            <a:endParaRPr/>
          </a:p>
          <a:p>
            <a:pPr indent="-317500" lvl="0" marL="457200" rtl="0" algn="l">
              <a:spcBef>
                <a:spcPts val="0"/>
              </a:spcBef>
              <a:spcAft>
                <a:spcPts val="0"/>
              </a:spcAft>
              <a:buSzPts val="1400"/>
              <a:buChar char="●"/>
            </a:pPr>
            <a:r>
              <a:rPr lang="en"/>
              <a:t>Second template explains organization's specific sales processes</a:t>
            </a:r>
            <a:endParaRPr/>
          </a:p>
          <a:p>
            <a:pPr indent="-317500" lvl="0" marL="457200" rtl="0" algn="l">
              <a:spcBef>
                <a:spcPts val="0"/>
              </a:spcBef>
              <a:spcAft>
                <a:spcPts val="0"/>
              </a:spcAft>
              <a:buSzPts val="1400"/>
              <a:buChar char="●"/>
            </a:pPr>
            <a:r>
              <a:rPr lang="en"/>
              <a:t>To be used as default prompt values in our screen flow</a:t>
            </a:r>
            <a:endParaRPr/>
          </a:p>
        </p:txBody>
      </p:sp>
      <p:pic>
        <p:nvPicPr>
          <p:cNvPr id="131" name="Google Shape;131;p23"/>
          <p:cNvPicPr preferRelativeResize="0"/>
          <p:nvPr/>
        </p:nvPicPr>
        <p:blipFill>
          <a:blip r:embed="rId3">
            <a:alphaModFix/>
          </a:blip>
          <a:stretch>
            <a:fillRect/>
          </a:stretch>
        </p:blipFill>
        <p:spPr>
          <a:xfrm>
            <a:off x="4464100" y="678725"/>
            <a:ext cx="4086594" cy="3404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Screen and Copy Setup</a:t>
            </a:r>
            <a:endParaRPr/>
          </a:p>
        </p:txBody>
      </p:sp>
      <p:sp>
        <p:nvSpPr>
          <p:cNvPr id="136" name="Google Shape;136;p24"/>
          <p:cNvSpPr txBox="1"/>
          <p:nvPr>
            <p:ph idx="1" type="body"/>
          </p:nvPr>
        </p:nvSpPr>
        <p:spPr>
          <a:xfrm>
            <a:off x="4438532" y="764026"/>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Users can review and edit both starting and gift prompts.</a:t>
            </a:r>
            <a:endParaRPr/>
          </a:p>
          <a:p>
            <a:pPr indent="0" lvl="0" marL="0" rtl="0" algn="l">
              <a:spcBef>
                <a:spcPts val="0"/>
              </a:spcBef>
              <a:spcAft>
                <a:spcPts val="0"/>
              </a:spcAft>
              <a:buNone/>
            </a:pPr>
            <a:r>
              <a:t/>
            </a:r>
            <a:endParaRPr/>
          </a:p>
        </p:txBody>
      </p:sp>
      <p:pic>
        <p:nvPicPr>
          <p:cNvPr id="137" name="Google Shape;137;p24"/>
          <p:cNvPicPr preferRelativeResize="0"/>
          <p:nvPr/>
        </p:nvPicPr>
        <p:blipFill>
          <a:blip r:embed="rId3">
            <a:alphaModFix/>
          </a:blip>
          <a:stretch>
            <a:fillRect/>
          </a:stretch>
        </p:blipFill>
        <p:spPr>
          <a:xfrm>
            <a:off x="1845925" y="1755598"/>
            <a:ext cx="6574526" cy="32230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Screen and Copy Setup</a:t>
            </a:r>
            <a:endParaRPr/>
          </a:p>
        </p:txBody>
      </p:sp>
      <p:sp>
        <p:nvSpPr>
          <p:cNvPr id="142" name="Google Shape;142;p25"/>
          <p:cNvSpPr txBox="1"/>
          <p:nvPr>
            <p:ph idx="1" type="body"/>
          </p:nvPr>
        </p:nvSpPr>
        <p:spPr>
          <a:xfrm>
            <a:off x="319081" y="1127601"/>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The clipboard button component copies the complete prompt formula.</a:t>
            </a:r>
            <a:endParaRPr/>
          </a:p>
          <a:p>
            <a:pPr indent="-317500" lvl="1" marL="914400" rtl="0" algn="l">
              <a:spcBef>
                <a:spcPts val="0"/>
              </a:spcBef>
              <a:spcAft>
                <a:spcPts val="0"/>
              </a:spcAft>
              <a:buSzPts val="1400"/>
              <a:buChar char="○"/>
            </a:pPr>
            <a:r>
              <a:rPr lang="en"/>
              <a:t>This formula combines the screen inputs with the JSON and formulas from gets and transforms.</a:t>
            </a:r>
            <a:endParaRPr/>
          </a:p>
          <a:p>
            <a:pPr indent="0" lvl="0" marL="0" rtl="0" algn="l">
              <a:spcBef>
                <a:spcPts val="0"/>
              </a:spcBef>
              <a:spcAft>
                <a:spcPts val="0"/>
              </a:spcAft>
              <a:buNone/>
            </a:pPr>
            <a:r>
              <a:t/>
            </a:r>
            <a:endParaRPr/>
          </a:p>
        </p:txBody>
      </p:sp>
      <p:pic>
        <p:nvPicPr>
          <p:cNvPr id="143" name="Google Shape;143;p25"/>
          <p:cNvPicPr preferRelativeResize="0"/>
          <p:nvPr/>
        </p:nvPicPr>
        <p:blipFill>
          <a:blip r:embed="rId3">
            <a:alphaModFix/>
          </a:blip>
          <a:stretch>
            <a:fillRect/>
          </a:stretch>
        </p:blipFill>
        <p:spPr>
          <a:xfrm>
            <a:off x="9663925" y="89475"/>
            <a:ext cx="3717275" cy="6968276"/>
          </a:xfrm>
          <a:prstGeom prst="rect">
            <a:avLst/>
          </a:prstGeom>
          <a:noFill/>
          <a:ln>
            <a:noFill/>
          </a:ln>
        </p:spPr>
      </p:pic>
      <p:pic>
        <p:nvPicPr>
          <p:cNvPr id="144" name="Google Shape;144;p25"/>
          <p:cNvPicPr preferRelativeResize="0"/>
          <p:nvPr/>
        </p:nvPicPr>
        <p:blipFill>
          <a:blip r:embed="rId4">
            <a:alphaModFix/>
          </a:blip>
          <a:stretch>
            <a:fillRect/>
          </a:stretch>
        </p:blipFill>
        <p:spPr>
          <a:xfrm>
            <a:off x="5101376" y="331400"/>
            <a:ext cx="4102449"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Activate and Deploy Flow</a:t>
            </a:r>
            <a:endParaRPr/>
          </a:p>
        </p:txBody>
      </p:sp>
      <p:sp>
        <p:nvSpPr>
          <p:cNvPr id="149" name="Google Shape;149;p26"/>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Save, debug and activate the completed Flow.</a:t>
            </a:r>
            <a:endParaRPr/>
          </a:p>
          <a:p>
            <a:pPr indent="-317500" lvl="0" marL="457200" rtl="0" algn="l">
              <a:spcBef>
                <a:spcPts val="0"/>
              </a:spcBef>
              <a:spcAft>
                <a:spcPts val="0"/>
              </a:spcAft>
              <a:buSzPts val="1400"/>
              <a:buChar char="●"/>
            </a:pPr>
            <a:r>
              <a:rPr lang="en"/>
              <a:t>Create a Quick Action for modal launch access.</a:t>
            </a:r>
            <a:endParaRPr/>
          </a:p>
          <a:p>
            <a:pPr indent="0" lvl="0" marL="0" rtl="0" algn="l">
              <a:spcBef>
                <a:spcPts val="0"/>
              </a:spcBef>
              <a:spcAft>
                <a:spcPts val="0"/>
              </a:spcAft>
              <a:buNone/>
            </a:pPr>
            <a:r>
              <a:t/>
            </a:r>
            <a:endParaRPr/>
          </a:p>
        </p:txBody>
      </p:sp>
      <p:pic>
        <p:nvPicPr>
          <p:cNvPr id="150" name="Google Shape;150;p26"/>
          <p:cNvPicPr preferRelativeResize="0"/>
          <p:nvPr>
            <p:ph idx="2" type="pic"/>
          </p:nvPr>
        </p:nvPicPr>
        <p:blipFill>
          <a:blip r:embed="rId3">
            <a:alphaModFix/>
          </a:blip>
          <a:stretch>
            <a:fillRect/>
          </a:stretch>
        </p:blipFill>
        <p:spPr>
          <a:xfrm>
            <a:off x="5545950" y="1519300"/>
            <a:ext cx="3090600" cy="3090600"/>
          </a:xfrm>
          <a:prstGeom prst="roundRect">
            <a:avLst>
              <a:gd fmla="val 50000" name="adj"/>
            </a:avLst>
          </a:prstGeom>
          <a:noFill/>
        </p:spPr>
      </p:pic>
      <p:pic>
        <p:nvPicPr>
          <p:cNvPr id="151" name="Google Shape;151;p26"/>
          <p:cNvPicPr preferRelativeResize="0"/>
          <p:nvPr/>
        </p:nvPicPr>
        <p:blipFill>
          <a:blip r:embed="rId4">
            <a:alphaModFix/>
          </a:blip>
          <a:stretch>
            <a:fillRect/>
          </a:stretch>
        </p:blipFill>
        <p:spPr>
          <a:xfrm>
            <a:off x="605648" y="2356058"/>
            <a:ext cx="4782300" cy="25299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327575" y="289525"/>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Before and After Comparison</a:t>
            </a:r>
            <a:endParaRPr/>
          </a:p>
        </p:txBody>
      </p:sp>
      <p:sp>
        <p:nvSpPr>
          <p:cNvPr id="156" name="Google Shape;156;p27"/>
          <p:cNvSpPr txBox="1"/>
          <p:nvPr>
            <p:ph idx="1" type="body"/>
          </p:nvPr>
        </p:nvSpPr>
        <p:spPr>
          <a:xfrm>
            <a:off x="327575" y="1565671"/>
            <a:ext cx="3548100" cy="32883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95% productivity increase data gathering.</a:t>
            </a:r>
            <a:endParaRPr/>
          </a:p>
          <a:p>
            <a:pPr indent="-317500" lvl="1" marL="914400" rtl="0" algn="l">
              <a:spcBef>
                <a:spcPts val="0"/>
              </a:spcBef>
              <a:spcAft>
                <a:spcPts val="0"/>
              </a:spcAft>
              <a:buSzPts val="1400"/>
              <a:buChar char="○"/>
            </a:pPr>
            <a:r>
              <a:rPr lang="en"/>
              <a:t>Manually searching data takes twenty to thirty minutes</a:t>
            </a:r>
            <a:endParaRPr/>
          </a:p>
          <a:p>
            <a:pPr indent="-317500" lvl="1" marL="914400" rtl="0" algn="l">
              <a:spcBef>
                <a:spcPts val="0"/>
              </a:spcBef>
              <a:spcAft>
                <a:spcPts val="0"/>
              </a:spcAft>
              <a:buSzPts val="1400"/>
              <a:buChar char="○"/>
            </a:pPr>
            <a:r>
              <a:rPr lang="en"/>
              <a:t>The new automated process takes under one minute.</a:t>
            </a:r>
            <a:endParaRPr/>
          </a:p>
          <a:p>
            <a:pPr indent="-317500" lvl="0" marL="457200" rtl="0" algn="l">
              <a:spcBef>
                <a:spcPts val="0"/>
              </a:spcBef>
              <a:spcAft>
                <a:spcPts val="0"/>
              </a:spcAft>
              <a:buSzPts val="1400"/>
              <a:buChar char="●"/>
            </a:pPr>
            <a:r>
              <a:rPr lang="en"/>
              <a:t>Fundraisers achieve immediate time savings and b</a:t>
            </a:r>
            <a:r>
              <a:rPr lang="en"/>
              <a:t>etter results writing the </a:t>
            </a:r>
            <a:r>
              <a:rPr lang="en"/>
              <a:t>final briefing.</a:t>
            </a:r>
            <a:endParaRPr/>
          </a:p>
          <a:p>
            <a:pPr indent="-317500" lvl="0" marL="457200" rtl="0" algn="l">
              <a:spcBef>
                <a:spcPts val="0"/>
              </a:spcBef>
              <a:spcAft>
                <a:spcPts val="0"/>
              </a:spcAft>
              <a:buSzPts val="1400"/>
              <a:buChar char="●"/>
            </a:pPr>
            <a:r>
              <a:rPr lang="en"/>
              <a:t>Fundraisers can prompt revisions and edits before or after copying data.</a:t>
            </a:r>
            <a:endParaRPr/>
          </a:p>
        </p:txBody>
      </p:sp>
      <p:pic>
        <p:nvPicPr>
          <p:cNvPr id="157" name="Google Shape;157;p27"/>
          <p:cNvPicPr preferRelativeResize="0"/>
          <p:nvPr>
            <p:ph idx="2" type="pic"/>
          </p:nvPr>
        </p:nvPicPr>
        <p:blipFill>
          <a:blip r:embed="rId3">
            <a:alphaModFix/>
          </a:blip>
          <a:stretch>
            <a:fillRect/>
          </a:stretch>
        </p:blipFill>
        <p:spPr>
          <a:xfrm>
            <a:off x="4298349" y="316350"/>
            <a:ext cx="4510800" cy="4510800"/>
          </a:xfrm>
          <a:prstGeom prst="roundRect">
            <a:avLst>
              <a:gd fmla="val 50000" name="adj"/>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ROI and Value</a:t>
            </a:r>
            <a:endParaRPr/>
          </a:p>
        </p:txBody>
      </p:sp>
      <p:pic>
        <p:nvPicPr>
          <p:cNvPr id="162" name="Google Shape;162;p28"/>
          <p:cNvPicPr preferRelativeResize="0"/>
          <p:nvPr>
            <p:ph idx="2" type="pic"/>
          </p:nvPr>
        </p:nvPicPr>
        <p:blipFill>
          <a:blip r:embed="rId3">
            <a:alphaModFix/>
          </a:blip>
          <a:stretch>
            <a:fillRect/>
          </a:stretch>
        </p:blipFill>
        <p:spPr>
          <a:xfrm>
            <a:off x="507445" y="1324925"/>
            <a:ext cx="1815300" cy="1815300"/>
          </a:xfrm>
          <a:prstGeom prst="rect">
            <a:avLst/>
          </a:prstGeom>
          <a:noFill/>
        </p:spPr>
      </p:pic>
      <p:graphicFrame>
        <p:nvGraphicFramePr>
          <p:cNvPr id="163" name="Google Shape;163;p28"/>
          <p:cNvGraphicFramePr/>
          <p:nvPr/>
        </p:nvGraphicFramePr>
        <p:xfrm>
          <a:off x="2439475" y="1254275"/>
          <a:ext cx="3000000" cy="3000000"/>
        </p:xfrm>
        <a:graphic>
          <a:graphicData uri="http://schemas.openxmlformats.org/drawingml/2006/table">
            <a:tbl>
              <a:tblPr>
                <a:noFill/>
                <a:tableStyleId>{CACAC44B-D3BF-4BC1-9598-8C8F3237D144}</a:tableStyleId>
              </a:tblPr>
              <a:tblGrid>
                <a:gridCol w="2390525"/>
                <a:gridCol w="2106250"/>
                <a:gridCol w="2002850"/>
              </a:tblGrid>
              <a:tr h="310750">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Metric</a:t>
                      </a:r>
                      <a:endParaRPr sz="1000">
                        <a:solidFill>
                          <a:srgbClr val="FFFFFF"/>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535FC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$20 Screen Flow</a:t>
                      </a:r>
                      <a:endParaRPr sz="1000">
                        <a:solidFill>
                          <a:srgbClr val="FFFFFF"/>
                        </a:solidFill>
                        <a:latin typeface="Roboto"/>
                        <a:ea typeface="Roboto"/>
                        <a:cs typeface="Roboto"/>
                        <a:sym typeface="Roboto"/>
                      </a:endParaRPr>
                    </a:p>
                  </a:txBody>
                  <a:tcPr marT="19050" marB="19050" marR="76200" marL="76200" anchor="ctr">
                    <a:lnL cap="flat" cmpd="sng" w="9525">
                      <a:solidFill>
                        <a:srgbClr val="535FC1"/>
                      </a:solidFill>
                      <a:prstDash val="solid"/>
                      <a:round/>
                      <a:headEnd len="sm" w="sm" type="none"/>
                      <a:tailEnd len="sm" w="sm" type="none"/>
                    </a:lnL>
                    <a:lnR cap="flat" cmpd="sng" w="9525">
                      <a:solidFill>
                        <a:srgbClr val="535FC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c>
                  <a:txBody>
                    <a:bodyPr/>
                    <a:lstStyle/>
                    <a:p>
                      <a:pPr indent="0" lvl="0" marL="0" rtl="0" algn="l">
                        <a:lnSpc>
                          <a:spcPct val="115000"/>
                        </a:lnSpc>
                        <a:spcBef>
                          <a:spcPts val="0"/>
                        </a:spcBef>
                        <a:spcAft>
                          <a:spcPts val="0"/>
                        </a:spcAft>
                        <a:buNone/>
                      </a:pPr>
                      <a:r>
                        <a:rPr lang="en" sz="1000">
                          <a:solidFill>
                            <a:srgbClr val="FFFFFF"/>
                          </a:solidFill>
                          <a:latin typeface="Roboto"/>
                          <a:ea typeface="Roboto"/>
                          <a:cs typeface="Roboto"/>
                          <a:sym typeface="Roboto"/>
                        </a:rPr>
                        <a:t>Einstein GPT</a:t>
                      </a:r>
                      <a:endParaRPr sz="1000">
                        <a:solidFill>
                          <a:srgbClr val="FFFFFF"/>
                        </a:solidFill>
                        <a:latin typeface="Roboto"/>
                        <a:ea typeface="Roboto"/>
                        <a:cs typeface="Roboto"/>
                        <a:sym typeface="Roboto"/>
                      </a:endParaRPr>
                    </a:p>
                  </a:txBody>
                  <a:tcPr marT="19050" marB="19050" marR="76200" marL="76200" anchor="ctr">
                    <a:lnL cap="flat" cmpd="sng" w="9525">
                      <a:solidFill>
                        <a:srgbClr val="535FC1"/>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3E4791"/>
                      </a:solidFill>
                      <a:prstDash val="solid"/>
                      <a:round/>
                      <a:headEnd len="sm" w="sm" type="none"/>
                      <a:tailEnd len="sm" w="sm" type="none"/>
                    </a:lnB>
                    <a:solidFill>
                      <a:srgbClr val="535FC1"/>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Setup Time</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45 minutes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Days/Weeks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3E4791"/>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Extra </a:t>
                      </a:r>
                      <a:r>
                        <a:rPr lang="en" sz="1000">
                          <a:solidFill>
                            <a:srgbClr val="434343"/>
                          </a:solidFill>
                          <a:latin typeface="Roboto"/>
                          <a:ea typeface="Roboto"/>
                          <a:cs typeface="Roboto"/>
                          <a:sym typeface="Roboto"/>
                        </a:rPr>
                        <a:t>Monthly Cost (5 users)</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$0 - </a:t>
                      </a:r>
                      <a:r>
                        <a:rPr lang="en" sz="1000">
                          <a:solidFill>
                            <a:srgbClr val="434343"/>
                          </a:solidFill>
                          <a:latin typeface="Roboto"/>
                          <a:ea typeface="Roboto"/>
                          <a:cs typeface="Roboto"/>
                          <a:sym typeface="Roboto"/>
                        </a:rPr>
                        <a:t>$100</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$250-375</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Annual Cost (5 users)</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$0 - </a:t>
                      </a:r>
                      <a:r>
                        <a:rPr lang="en" sz="1000">
                          <a:solidFill>
                            <a:srgbClr val="434343"/>
                          </a:solidFill>
                          <a:latin typeface="Roboto"/>
                          <a:ea typeface="Roboto"/>
                          <a:cs typeface="Roboto"/>
                          <a:sym typeface="Roboto"/>
                        </a:rPr>
                        <a:t>$1200</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$3,000-4,500</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Integration Needed</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None</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Yes</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Training Required</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15 minutes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1-2 hours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Customization</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Fully flexible</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Limited</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Time per Donor Brief</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2 minutes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2-5 minutes</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Time Saved vs Manual</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r">
                        <a:lnSpc>
                          <a:spcPct val="115000"/>
                        </a:lnSpc>
                        <a:spcBef>
                          <a:spcPts val="0"/>
                        </a:spcBef>
                        <a:spcAft>
                          <a:spcPts val="0"/>
                        </a:spcAft>
                        <a:buNone/>
                      </a:pPr>
                      <a:r>
                        <a:rPr lang="en" sz="1000">
                          <a:solidFill>
                            <a:srgbClr val="434343"/>
                          </a:solidFill>
                          <a:latin typeface="Roboto"/>
                          <a:ea typeface="Roboto"/>
                          <a:cs typeface="Roboto"/>
                          <a:sym typeface="Roboto"/>
                        </a:rPr>
                        <a:t>90%</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75-85%</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6F8F9"/>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LLM Choice</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Any</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Salesforce only</a:t>
                      </a:r>
                      <a:endParaRPr sz="1000">
                        <a:solidFill>
                          <a:srgbClr val="434343"/>
                        </a:solidFill>
                        <a:latin typeface="Roboto"/>
                        <a:ea typeface="Roboto"/>
                        <a:cs typeface="Roboto"/>
                        <a:sym typeface="Roboto"/>
                      </a:endParaRPr>
                    </a:p>
                  </a:txBody>
                  <a:tcPr marT="19050" marB="19050" marR="76200" marL="76200" anchor="ctr">
                    <a:lnL cap="flat" cmpd="sng" w="9525">
                      <a:solidFill>
                        <a:srgbClr val="FFFFFF"/>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F6F8F9"/>
                      </a:solidFill>
                      <a:prstDash val="solid"/>
                      <a:round/>
                      <a:headEnd len="sm" w="sm" type="none"/>
                      <a:tailEnd len="sm" w="sm" type="none"/>
                    </a:lnB>
                    <a:solidFill>
                      <a:srgbClr val="FFFFFF"/>
                    </a:solidFill>
                  </a:tcPr>
                </a:tc>
              </a:tr>
              <a:tr h="310750">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Data Privacy Control</a:t>
                      </a:r>
                      <a:endParaRPr sz="1000">
                        <a:solidFill>
                          <a:srgbClr val="434343"/>
                        </a:solidFill>
                        <a:latin typeface="Roboto"/>
                        <a:ea typeface="Roboto"/>
                        <a:cs typeface="Roboto"/>
                        <a:sym typeface="Roboto"/>
                      </a:endParaRPr>
                    </a:p>
                  </a:txBody>
                  <a:tcPr marT="19050" marB="19050" marR="76200" marL="76200" anchor="ctr">
                    <a:lnL cap="flat" cmpd="sng" w="9525">
                      <a:solidFill>
                        <a:srgbClr val="3E4791"/>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3E4791"/>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User controlled</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F6F8F9"/>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3E4791"/>
                      </a:solidFill>
                      <a:prstDash val="solid"/>
                      <a:round/>
                      <a:headEnd len="sm" w="sm" type="none"/>
                      <a:tailEnd len="sm" w="sm" type="none"/>
                    </a:lnB>
                    <a:solidFill>
                      <a:srgbClr val="F6F8F9"/>
                    </a:solidFill>
                  </a:tcPr>
                </a:tc>
                <a:tc>
                  <a:txBody>
                    <a:bodyPr/>
                    <a:lstStyle/>
                    <a:p>
                      <a:pPr indent="0" lvl="0" marL="0" rtl="0" algn="l">
                        <a:lnSpc>
                          <a:spcPct val="115000"/>
                        </a:lnSpc>
                        <a:spcBef>
                          <a:spcPts val="0"/>
                        </a:spcBef>
                        <a:spcAft>
                          <a:spcPts val="0"/>
                        </a:spcAft>
                        <a:buNone/>
                      </a:pPr>
                      <a:r>
                        <a:rPr lang="en" sz="1000">
                          <a:solidFill>
                            <a:srgbClr val="434343"/>
                          </a:solidFill>
                          <a:latin typeface="Roboto"/>
                          <a:ea typeface="Roboto"/>
                          <a:cs typeface="Roboto"/>
                          <a:sym typeface="Roboto"/>
                        </a:rPr>
                        <a:t>Salesforce</a:t>
                      </a:r>
                      <a:endParaRPr sz="1000">
                        <a:solidFill>
                          <a:srgbClr val="434343"/>
                        </a:solidFill>
                        <a:latin typeface="Roboto"/>
                        <a:ea typeface="Roboto"/>
                        <a:cs typeface="Roboto"/>
                        <a:sym typeface="Roboto"/>
                      </a:endParaRPr>
                    </a:p>
                  </a:txBody>
                  <a:tcPr marT="19050" marB="19050" marR="76200" marL="76200" anchor="ctr">
                    <a:lnL cap="flat" cmpd="sng" w="9525">
                      <a:solidFill>
                        <a:srgbClr val="F6F8F9"/>
                      </a:solidFill>
                      <a:prstDash val="solid"/>
                      <a:round/>
                      <a:headEnd len="sm" w="sm" type="none"/>
                      <a:tailEnd len="sm" w="sm" type="none"/>
                    </a:lnL>
                    <a:lnR cap="flat" cmpd="sng" w="9525">
                      <a:solidFill>
                        <a:srgbClr val="3E4791"/>
                      </a:solidFill>
                      <a:prstDash val="solid"/>
                      <a:round/>
                      <a:headEnd len="sm" w="sm" type="none"/>
                      <a:tailEnd len="sm" w="sm" type="none"/>
                    </a:lnR>
                    <a:lnT cap="flat" cmpd="sng" w="9525">
                      <a:solidFill>
                        <a:srgbClr val="F6F8F9"/>
                      </a:solidFill>
                      <a:prstDash val="solid"/>
                      <a:round/>
                      <a:headEnd len="sm" w="sm" type="none"/>
                      <a:tailEnd len="sm" w="sm" type="none"/>
                    </a:lnT>
                    <a:lnB cap="flat" cmpd="sng" w="9525">
                      <a:solidFill>
                        <a:srgbClr val="3E4791"/>
                      </a:solidFill>
                      <a:prstDash val="solid"/>
                      <a:round/>
                      <a:headEnd len="sm" w="sm" type="none"/>
                      <a:tailEnd len="sm" w="sm" type="none"/>
                    </a:lnB>
                    <a:solidFill>
                      <a:srgbClr val="F6F8F9"/>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507450" y="331400"/>
            <a:ext cx="8129100" cy="7962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Implementation Roadmap</a:t>
            </a:r>
            <a:endParaRPr/>
          </a:p>
        </p:txBody>
      </p:sp>
      <p:sp>
        <p:nvSpPr>
          <p:cNvPr id="168" name="Google Shape;168;p29"/>
          <p:cNvSpPr txBox="1"/>
          <p:nvPr>
            <p:ph idx="1" type="body"/>
          </p:nvPr>
        </p:nvSpPr>
        <p:spPr>
          <a:xfrm>
            <a:off x="3854182" y="1519301"/>
            <a:ext cx="4782300" cy="30906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Install packages and build the core screen flow logic</a:t>
            </a:r>
            <a:endParaRPr/>
          </a:p>
          <a:p>
            <a:pPr indent="-317500" lvl="0" marL="457200" rtl="0" algn="l">
              <a:spcBef>
                <a:spcPts val="0"/>
              </a:spcBef>
              <a:spcAft>
                <a:spcPts val="0"/>
              </a:spcAft>
              <a:buSzPts val="1400"/>
              <a:buChar char="●"/>
            </a:pPr>
            <a:r>
              <a:rPr lang="en"/>
              <a:t>Pilot the flow with 2-3 power users for critical feedback</a:t>
            </a:r>
            <a:endParaRPr/>
          </a:p>
          <a:p>
            <a:pPr indent="-317500" lvl="0" marL="457200" rtl="0" algn="l">
              <a:spcBef>
                <a:spcPts val="0"/>
              </a:spcBef>
              <a:spcAft>
                <a:spcPts val="0"/>
              </a:spcAft>
              <a:buSzPts val="1400"/>
              <a:buChar char="●"/>
            </a:pPr>
            <a:r>
              <a:rPr lang="en"/>
              <a:t>Develop training materials / conduct a short user session</a:t>
            </a:r>
            <a:endParaRPr/>
          </a:p>
          <a:p>
            <a:pPr indent="-317500" lvl="0" marL="457200" rtl="0" algn="l">
              <a:spcBef>
                <a:spcPts val="0"/>
              </a:spcBef>
              <a:spcAft>
                <a:spcPts val="0"/>
              </a:spcAft>
              <a:buSzPts val="1400"/>
              <a:buChar char="●"/>
            </a:pPr>
            <a:r>
              <a:rPr lang="en"/>
              <a:t>Deploy the solution fully to the entire fundraising team</a:t>
            </a:r>
            <a:endParaRPr/>
          </a:p>
        </p:txBody>
      </p:sp>
      <p:pic>
        <p:nvPicPr>
          <p:cNvPr id="169" name="Google Shape;169;p29"/>
          <p:cNvPicPr preferRelativeResize="0"/>
          <p:nvPr>
            <p:ph idx="2" type="pic"/>
          </p:nvPr>
        </p:nvPicPr>
        <p:blipFill>
          <a:blip r:embed="rId3">
            <a:alphaModFix/>
          </a:blip>
          <a:stretch>
            <a:fillRect/>
          </a:stretch>
        </p:blipFill>
        <p:spPr>
          <a:xfrm>
            <a:off x="457200" y="1519300"/>
            <a:ext cx="3090600" cy="3090600"/>
          </a:xfrm>
          <a:prstGeom prst="roundRect">
            <a:avLst>
              <a:gd fmla="val 50000" name="adj"/>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5427950" y="289525"/>
            <a:ext cx="34059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Beyond Fundraising</a:t>
            </a:r>
            <a:endParaRPr/>
          </a:p>
        </p:txBody>
      </p:sp>
      <p:sp>
        <p:nvSpPr>
          <p:cNvPr id="174" name="Google Shape;174;p30"/>
          <p:cNvSpPr txBox="1"/>
          <p:nvPr>
            <p:ph idx="1" type="body"/>
          </p:nvPr>
        </p:nvSpPr>
        <p:spPr>
          <a:xfrm>
            <a:off x="5427950" y="1565672"/>
            <a:ext cx="3405900" cy="32883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Incorporate tasks, activities, and volunteer hours.</a:t>
            </a:r>
            <a:endParaRPr/>
          </a:p>
          <a:p>
            <a:pPr indent="-317500" lvl="0" marL="457200" rtl="0" algn="l">
              <a:spcBef>
                <a:spcPts val="0"/>
              </a:spcBef>
              <a:spcAft>
                <a:spcPts val="0"/>
              </a:spcAft>
              <a:buSzPts val="1400"/>
              <a:buChar char="●"/>
            </a:pPr>
            <a:r>
              <a:rPr lang="en"/>
              <a:t>Filter opportunities by date range for relevance.</a:t>
            </a:r>
            <a:endParaRPr/>
          </a:p>
          <a:p>
            <a:pPr indent="-317500" lvl="0" marL="457200" rtl="0" algn="l">
              <a:spcBef>
                <a:spcPts val="0"/>
              </a:spcBef>
              <a:spcAft>
                <a:spcPts val="0"/>
              </a:spcAft>
              <a:buSzPts val="1400"/>
              <a:buChar char="●"/>
            </a:pPr>
            <a:r>
              <a:rPr lang="en"/>
              <a:t>Create multiple tailored prompt templates for different meetings.</a:t>
            </a:r>
            <a:endParaRPr/>
          </a:p>
          <a:p>
            <a:pPr indent="-317500" lvl="0" marL="457200" rtl="0" algn="l">
              <a:spcBef>
                <a:spcPts val="0"/>
              </a:spcBef>
              <a:spcAft>
                <a:spcPts val="0"/>
              </a:spcAft>
              <a:buSzPts val="1400"/>
              <a:buChar char="●"/>
            </a:pPr>
            <a:r>
              <a:rPr lang="en"/>
              <a:t>Apply the AI solution beyond fundraising, using new use cases.</a:t>
            </a:r>
            <a:endParaRPr/>
          </a:p>
          <a:p>
            <a:pPr indent="-317500" lvl="0" marL="457200" rtl="0" algn="l">
              <a:spcBef>
                <a:spcPts val="0"/>
              </a:spcBef>
              <a:spcAft>
                <a:spcPts val="0"/>
              </a:spcAft>
              <a:buSzPts val="1400"/>
              <a:buChar char="●"/>
            </a:pPr>
            <a:r>
              <a:rPr lang="en"/>
              <a:t>Improve performance using Get In USF component</a:t>
            </a:r>
            <a:endParaRPr/>
          </a:p>
          <a:p>
            <a:pPr indent="-317500" lvl="0" marL="457200" rtl="0" algn="l">
              <a:spcBef>
                <a:spcPts val="0"/>
              </a:spcBef>
              <a:spcAft>
                <a:spcPts val="0"/>
              </a:spcAft>
              <a:buSzPts val="1400"/>
              <a:buChar char="●"/>
            </a:pPr>
            <a:r>
              <a:rPr lang="en"/>
              <a:t>Create automated use tracking </a:t>
            </a:r>
            <a:r>
              <a:rPr lang="en"/>
              <a:t>object</a:t>
            </a:r>
            <a:r>
              <a:rPr lang="en"/>
              <a:t> or prompt satisfaction scoring.</a:t>
            </a:r>
            <a:endParaRPr/>
          </a:p>
        </p:txBody>
      </p:sp>
      <p:pic>
        <p:nvPicPr>
          <p:cNvPr id="175" name="Google Shape;175;p30"/>
          <p:cNvPicPr preferRelativeResize="0"/>
          <p:nvPr>
            <p:ph idx="2" type="pic"/>
          </p:nvPr>
        </p:nvPicPr>
        <p:blipFill>
          <a:blip r:embed="rId3">
            <a:alphaModFix/>
          </a:blip>
          <a:stretch>
            <a:fillRect/>
          </a:stretch>
        </p:blipFill>
        <p:spPr>
          <a:xfrm>
            <a:off x="0" y="0"/>
            <a:ext cx="5148000" cy="5143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27575" y="289525"/>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Risks and Limits</a:t>
            </a:r>
            <a:endParaRPr/>
          </a:p>
        </p:txBody>
      </p:sp>
      <p:sp>
        <p:nvSpPr>
          <p:cNvPr id="180" name="Google Shape;180;p31"/>
          <p:cNvSpPr txBox="1"/>
          <p:nvPr>
            <p:ph idx="1" type="body"/>
          </p:nvPr>
        </p:nvSpPr>
        <p:spPr>
          <a:xfrm>
            <a:off x="327575" y="1467771"/>
            <a:ext cx="3548100" cy="32883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Data is copied from Salesforce to external AI tool.</a:t>
            </a:r>
            <a:endParaRPr/>
          </a:p>
          <a:p>
            <a:pPr indent="-317500" lvl="0" marL="457200" rtl="0" algn="l">
              <a:spcBef>
                <a:spcPts val="0"/>
              </a:spcBef>
              <a:spcAft>
                <a:spcPts val="0"/>
              </a:spcAft>
              <a:buSzPts val="1400"/>
              <a:buChar char="●"/>
            </a:pPr>
            <a:r>
              <a:rPr lang="en"/>
              <a:t>Exclude highly sensitive personal information like SSN.</a:t>
            </a:r>
            <a:endParaRPr/>
          </a:p>
          <a:p>
            <a:pPr indent="-317500" lvl="0" marL="457200" rtl="0" algn="l">
              <a:spcBef>
                <a:spcPts val="0"/>
              </a:spcBef>
              <a:spcAft>
                <a:spcPts val="0"/>
              </a:spcAft>
              <a:buSzPts val="1400"/>
              <a:buChar char="●"/>
            </a:pPr>
            <a:r>
              <a:rPr lang="en"/>
              <a:t>Review AI usage policy before deploying the new solution.</a:t>
            </a:r>
            <a:endParaRPr/>
          </a:p>
          <a:p>
            <a:pPr indent="-317500" lvl="0" marL="457200" rtl="0" algn="l">
              <a:spcBef>
                <a:spcPts val="0"/>
              </a:spcBef>
              <a:spcAft>
                <a:spcPts val="0"/>
              </a:spcAft>
              <a:buSzPts val="1400"/>
              <a:buChar char="●"/>
            </a:pPr>
            <a:r>
              <a:rPr lang="en"/>
              <a:t>Always carefully review AI output for accuracy and tone.</a:t>
            </a:r>
            <a:endParaRPr/>
          </a:p>
          <a:p>
            <a:pPr indent="-317500" lvl="0" marL="457200" rtl="0" algn="l">
              <a:spcBef>
                <a:spcPts val="0"/>
              </a:spcBef>
              <a:spcAft>
                <a:spcPts val="0"/>
              </a:spcAft>
              <a:buSzPts val="1400"/>
              <a:buChar char="●"/>
            </a:pPr>
            <a:r>
              <a:rPr lang="en"/>
              <a:t>LLMs can sometimes misinterpret data or generate false information.</a:t>
            </a:r>
            <a:endParaRPr/>
          </a:p>
          <a:p>
            <a:pPr indent="-317500" lvl="0" marL="457200" rtl="0" algn="l">
              <a:spcBef>
                <a:spcPts val="0"/>
              </a:spcBef>
              <a:spcAft>
                <a:spcPts val="0"/>
              </a:spcAft>
              <a:buSzPts val="1400"/>
              <a:buChar char="●"/>
            </a:pPr>
            <a:r>
              <a:rPr lang="en"/>
              <a:t>High-quality Salesforce data is critical for accurate output.</a:t>
            </a:r>
            <a:endParaRPr/>
          </a:p>
        </p:txBody>
      </p:sp>
      <p:pic>
        <p:nvPicPr>
          <p:cNvPr id="181" name="Google Shape;181;p31"/>
          <p:cNvPicPr preferRelativeResize="0"/>
          <p:nvPr>
            <p:ph idx="2" type="pic"/>
          </p:nvPr>
        </p:nvPicPr>
        <p:blipFill>
          <a:blip r:embed="rId3">
            <a:alphaModFix/>
          </a:blip>
          <a:stretch>
            <a:fillRect/>
          </a:stretch>
        </p:blipFill>
        <p:spPr>
          <a:xfrm>
            <a:off x="4298349" y="316350"/>
            <a:ext cx="4510800" cy="4510800"/>
          </a:xfrm>
          <a:prstGeom prst="roundRect">
            <a:avLst>
              <a:gd fmla="val 50000" name="adj"/>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27575" y="289525"/>
            <a:ext cx="3548100" cy="1093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87" name="Google Shape;187;p32"/>
          <p:cNvSpPr txBox="1"/>
          <p:nvPr>
            <p:ph idx="1" type="body"/>
          </p:nvPr>
        </p:nvSpPr>
        <p:spPr>
          <a:xfrm>
            <a:off x="327575" y="1565671"/>
            <a:ext cx="3548100" cy="3288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t/>
            </a:r>
            <a:endParaRPr/>
          </a:p>
        </p:txBody>
      </p:sp>
      <p:sp>
        <p:nvSpPr>
          <p:cNvPr id="188" name="Google Shape;188;p32"/>
          <p:cNvSpPr/>
          <p:nvPr>
            <p:ph idx="2" type="pic"/>
          </p:nvPr>
        </p:nvSpPr>
        <p:spPr>
          <a:xfrm>
            <a:off x="4298349" y="316350"/>
            <a:ext cx="4510800" cy="4510800"/>
          </a:xfrm>
          <a:prstGeom prst="roundRect">
            <a:avLst>
              <a:gd fmla="val 16667" name="adj"/>
            </a:avLst>
          </a:prstGeom>
        </p:spPr>
      </p:sp>
      <p:pic>
        <p:nvPicPr>
          <p:cNvPr id="189" name="Google Shape;189;p32"/>
          <p:cNvPicPr preferRelativeResize="0"/>
          <p:nvPr/>
        </p:nvPicPr>
        <p:blipFill>
          <a:blip r:embed="rId3">
            <a:alphaModFix/>
          </a:blip>
          <a:stretch>
            <a:fillRect/>
          </a:stretch>
        </p:blipFill>
        <p:spPr>
          <a:xfrm>
            <a:off x="0" y="1868"/>
            <a:ext cx="9144000" cy="51397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3"/>
          <p:cNvSpPr txBox="1"/>
          <p:nvPr>
            <p:ph type="title"/>
          </p:nvPr>
        </p:nvSpPr>
        <p:spPr>
          <a:xfrm>
            <a:off x="350350" y="226400"/>
            <a:ext cx="3505500" cy="10944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Questions &amp; Discussion</a:t>
            </a:r>
            <a:endParaRPr/>
          </a:p>
        </p:txBody>
      </p:sp>
      <p:sp>
        <p:nvSpPr>
          <p:cNvPr id="194" name="Google Shape;194;p33"/>
          <p:cNvSpPr txBox="1"/>
          <p:nvPr>
            <p:ph idx="1" type="body"/>
          </p:nvPr>
        </p:nvSpPr>
        <p:spPr>
          <a:xfrm>
            <a:off x="350350" y="1598500"/>
            <a:ext cx="3505500" cy="3318600"/>
          </a:xfrm>
          <a:prstGeom prst="rect">
            <a:avLst/>
          </a:prstGeom>
          <a:ln>
            <a:noFill/>
          </a:ln>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Explore specific use cases and needs</a:t>
            </a:r>
            <a:endParaRPr/>
          </a:p>
          <a:p>
            <a:pPr indent="-317500" lvl="0" marL="457200" rtl="0" algn="l">
              <a:spcBef>
                <a:spcPts val="0"/>
              </a:spcBef>
              <a:spcAft>
                <a:spcPts val="0"/>
              </a:spcAft>
              <a:buSzPts val="1400"/>
              <a:buChar char="●"/>
            </a:pPr>
            <a:r>
              <a:rPr lang="en"/>
              <a:t>Discuss customization for your organization</a:t>
            </a:r>
            <a:endParaRPr/>
          </a:p>
          <a:p>
            <a:pPr indent="-317500" lvl="0" marL="457200" rtl="0" algn="l">
              <a:spcBef>
                <a:spcPts val="0"/>
              </a:spcBef>
              <a:spcAft>
                <a:spcPts val="0"/>
              </a:spcAft>
              <a:buSzPts val="1400"/>
              <a:buChar char="●"/>
            </a:pPr>
            <a:r>
              <a:rPr lang="en"/>
              <a:t>Address data privacy and security questions</a:t>
            </a:r>
            <a:endParaRPr/>
          </a:p>
          <a:p>
            <a:pPr indent="0" lvl="0" marL="0" rtl="0" algn="l">
              <a:spcBef>
                <a:spcPts val="0"/>
              </a:spcBef>
              <a:spcAft>
                <a:spcPts val="0"/>
              </a:spcAft>
              <a:buNone/>
            </a:pPr>
            <a:r>
              <a:t/>
            </a:r>
            <a:endParaRPr/>
          </a:p>
        </p:txBody>
      </p:sp>
      <p:pic>
        <p:nvPicPr>
          <p:cNvPr id="195" name="Google Shape;195;p33"/>
          <p:cNvPicPr preferRelativeResize="0"/>
          <p:nvPr>
            <p:ph idx="2" type="pic"/>
          </p:nvPr>
        </p:nvPicPr>
        <p:blipFill>
          <a:blip r:embed="rId3">
            <a:alphaModFix/>
          </a:blip>
          <a:stretch>
            <a:fillRect/>
          </a:stretch>
        </p:blipFill>
        <p:spPr>
          <a:xfrm>
            <a:off x="4101622" y="226350"/>
            <a:ext cx="4690800" cy="4690800"/>
          </a:xfrm>
          <a:prstGeom prst="rect">
            <a:avLst/>
          </a:prstGeom>
          <a:noFill/>
        </p:spPr>
      </p:pic>
      <p:pic>
        <p:nvPicPr>
          <p:cNvPr id="196" name="Google Shape;196;p33"/>
          <p:cNvPicPr preferRelativeResize="0"/>
          <p:nvPr/>
        </p:nvPicPr>
        <p:blipFill>
          <a:blip r:embed="rId4">
            <a:alphaModFix/>
          </a:blip>
          <a:stretch>
            <a:fillRect/>
          </a:stretch>
        </p:blipFill>
        <p:spPr>
          <a:xfrm>
            <a:off x="2168070" y="2710682"/>
            <a:ext cx="1793425" cy="182068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50350" y="226400"/>
            <a:ext cx="8318100" cy="1094400"/>
          </a:xfrm>
          <a:prstGeom prst="rect">
            <a:avLst/>
          </a:prstGeom>
        </p:spPr>
        <p:txBody>
          <a:bodyPr anchorCtr="0" anchor="t" bIns="0" lIns="0" spcFirstLastPara="1" rIns="0" wrap="square" tIns="0">
            <a:normAutofit/>
          </a:bodyPr>
          <a:lstStyle/>
          <a:p>
            <a:pPr indent="0" lvl="0" marL="0" rtl="0" algn="ctr">
              <a:spcBef>
                <a:spcPts val="0"/>
              </a:spcBef>
              <a:spcAft>
                <a:spcPts val="0"/>
              </a:spcAft>
              <a:buNone/>
            </a:pPr>
            <a:r>
              <a:rPr lang="en"/>
              <a:t>Bonus: AI for this presentation</a:t>
            </a:r>
            <a:endParaRPr/>
          </a:p>
        </p:txBody>
      </p:sp>
      <p:sp>
        <p:nvSpPr>
          <p:cNvPr id="202" name="Google Shape;202;p34"/>
          <p:cNvSpPr txBox="1"/>
          <p:nvPr/>
        </p:nvSpPr>
        <p:spPr>
          <a:xfrm>
            <a:off x="1244050" y="1426475"/>
            <a:ext cx="7424400" cy="819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Claude + Salesforce Flow Metadata Downloader created the content</a:t>
            </a:r>
            <a:endParaRPr>
              <a:solidFill>
                <a:schemeClr val="dk1"/>
              </a:solidFill>
              <a:latin typeface="Nunito"/>
              <a:ea typeface="Nunito"/>
              <a:cs typeface="Nunito"/>
              <a:sym typeface="Nunito"/>
            </a:endParaRPr>
          </a:p>
          <a:p>
            <a:pPr indent="-317500" lvl="1" marL="9144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Tables in markdown</a:t>
            </a:r>
            <a:endParaRPr>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Gemini created the slides and tables from Claude output</a:t>
            </a:r>
            <a:endParaRPr>
              <a:solidFill>
                <a:schemeClr val="dk1"/>
              </a:solidFill>
              <a:latin typeface="Nunito"/>
              <a:ea typeface="Nunito"/>
              <a:cs typeface="Nunito"/>
              <a:sym typeface="Nunito"/>
            </a:endParaRPr>
          </a:p>
        </p:txBody>
      </p:sp>
      <p:pic>
        <p:nvPicPr>
          <p:cNvPr id="203" name="Google Shape;203;p34"/>
          <p:cNvPicPr preferRelativeResize="0"/>
          <p:nvPr/>
        </p:nvPicPr>
        <p:blipFill>
          <a:blip r:embed="rId3">
            <a:alphaModFix/>
          </a:blip>
          <a:stretch>
            <a:fillRect/>
          </a:stretch>
        </p:blipFill>
        <p:spPr>
          <a:xfrm>
            <a:off x="1540325" y="2478013"/>
            <a:ext cx="2476796" cy="2580925"/>
          </a:xfrm>
          <a:prstGeom prst="rect">
            <a:avLst/>
          </a:prstGeom>
          <a:noFill/>
          <a:ln>
            <a:noFill/>
          </a:ln>
        </p:spPr>
      </p:pic>
      <p:sp>
        <p:nvSpPr>
          <p:cNvPr id="204" name="Google Shape;204;p34"/>
          <p:cNvSpPr txBox="1"/>
          <p:nvPr/>
        </p:nvSpPr>
        <p:spPr>
          <a:xfrm>
            <a:off x="5028900" y="3134650"/>
            <a:ext cx="3727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Nunito"/>
                <a:ea typeface="Nunito"/>
                <a:cs typeface="Nunito"/>
                <a:sym typeface="Nunito"/>
              </a:rPr>
              <a:t>Salesforce Flow Metadata Downloader + Claude is great for documenting flows.</a:t>
            </a:r>
            <a:endParaRPr>
              <a:solidFill>
                <a:schemeClr val="dk1"/>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50350" y="226400"/>
            <a:ext cx="8510100" cy="469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Example Output</a:t>
            </a:r>
            <a:endParaRPr/>
          </a:p>
        </p:txBody>
      </p:sp>
      <p:sp>
        <p:nvSpPr>
          <p:cNvPr id="210" name="Google Shape;210;p35"/>
          <p:cNvSpPr txBox="1"/>
          <p:nvPr/>
        </p:nvSpPr>
        <p:spPr>
          <a:xfrm>
            <a:off x="606125" y="646275"/>
            <a:ext cx="8724600" cy="83856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rPr lang="en" sz="800">
                <a:solidFill>
                  <a:srgbClr val="424242"/>
                </a:solidFill>
                <a:highlight>
                  <a:srgbClr val="FFFFFF"/>
                </a:highlight>
              </a:rPr>
              <a:t>Here is a clean, shareable donor brief with all inappropriate or unverified data removed or neutralized.</a:t>
            </a:r>
            <a:endParaRPr sz="800">
              <a:solidFill>
                <a:srgbClr val="424242"/>
              </a:solidFill>
              <a:highlight>
                <a:srgbClr val="FFFFFF"/>
              </a:highlight>
            </a:endParaRPr>
          </a:p>
          <a:p>
            <a:pPr indent="0" lvl="0" marL="0" rtl="0" algn="l">
              <a:spcBef>
                <a:spcPts val="1500"/>
              </a:spcBef>
              <a:spcAft>
                <a:spcPts val="0"/>
              </a:spcAft>
              <a:buNone/>
            </a:pPr>
            <a:r>
              <a:rPr lang="en" sz="800">
                <a:solidFill>
                  <a:srgbClr val="424242"/>
                </a:solidFill>
                <a:highlight>
                  <a:srgbClr val="FFFFFF"/>
                </a:highlight>
              </a:rPr>
              <a:t>Donor Brief: Countess Zorba Hansen</a:t>
            </a:r>
            <a:br>
              <a:rPr lang="en" sz="800">
                <a:solidFill>
                  <a:srgbClr val="424242"/>
                </a:solidFill>
                <a:highlight>
                  <a:srgbClr val="FFFFFF"/>
                </a:highlight>
              </a:rPr>
            </a:br>
            <a:endParaRPr sz="800">
              <a:solidFill>
                <a:srgbClr val="424242"/>
              </a:solidFill>
              <a:highlight>
                <a:srgbClr val="FFFFFF"/>
              </a:highlight>
            </a:endParaRPr>
          </a:p>
          <a:p>
            <a:pPr indent="0" lvl="0" marL="0" rtl="0" algn="l">
              <a:lnSpc>
                <a:spcPct val="140000"/>
              </a:lnSpc>
              <a:spcBef>
                <a:spcPts val="1500"/>
              </a:spcBef>
              <a:spcAft>
                <a:spcPts val="0"/>
              </a:spcAft>
              <a:buNone/>
            </a:pPr>
            <a:r>
              <a:rPr lang="en" sz="800">
                <a:solidFill>
                  <a:srgbClr val="424242"/>
                </a:solidFill>
                <a:highlight>
                  <a:srgbClr val="FFFFFF"/>
                </a:highlight>
              </a:rPr>
              <a:t>Status: Alive</a:t>
            </a:r>
            <a:endParaRPr sz="800">
              <a:solidFill>
                <a:srgbClr val="424242"/>
              </a:solidFill>
              <a:highlight>
                <a:srgbClr val="FFFFFF"/>
              </a:highlight>
            </a:endParaRPr>
          </a:p>
          <a:p>
            <a:pPr indent="0" lvl="0" marL="0" rtl="0" algn="l">
              <a:spcBef>
                <a:spcPts val="1500"/>
              </a:spcBef>
              <a:spcAft>
                <a:spcPts val="0"/>
              </a:spcAft>
              <a:buNone/>
            </a:pPr>
            <a:r>
              <a:rPr lang="en" sz="800">
                <a:solidFill>
                  <a:srgbClr val="424242"/>
                </a:solidFill>
                <a:highlight>
                  <a:srgbClr val="FFFFFF"/>
                </a:highlight>
              </a:rPr>
              <a:t>Summary of Giving History:</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Long‑time donor with consistent annual contributions dating back to at least 2008.</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Annual gifts are typically $1,000, with one recorded at $1,025.</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A single larger historical gift is also recorded.</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All opportunities are Closed Won, meaning all funds have been fully received.</a:t>
            </a:r>
            <a:br>
              <a:rPr lang="en" sz="800">
                <a:solidFill>
                  <a:srgbClr val="424242"/>
                </a:solidFill>
                <a:highlight>
                  <a:srgbClr val="FFFFFF"/>
                </a:highlight>
              </a:rPr>
            </a:br>
            <a:endParaRPr sz="800">
              <a:solidFill>
                <a:srgbClr val="424242"/>
              </a:solidFill>
              <a:highlight>
                <a:srgbClr val="FFFFFF"/>
              </a:highlight>
            </a:endParaRPr>
          </a:p>
          <a:p>
            <a:pPr indent="0" lvl="0" marL="0" rtl="0" algn="l">
              <a:lnSpc>
                <a:spcPct val="140000"/>
              </a:lnSpc>
              <a:spcBef>
                <a:spcPts val="1500"/>
              </a:spcBef>
              <a:spcAft>
                <a:spcPts val="0"/>
              </a:spcAft>
              <a:buNone/>
            </a:pPr>
            <a:r>
              <a:rPr lang="en" sz="800">
                <a:solidFill>
                  <a:srgbClr val="424242"/>
                </a:solidFill>
                <a:highlight>
                  <a:srgbClr val="FFFFFF"/>
                </a:highlight>
              </a:rPr>
              <a:t>• Total documented giving exceeds $13,000 in annual contributions, plus the larger historic gift.</a:t>
            </a:r>
            <a:endParaRPr sz="800">
              <a:solidFill>
                <a:srgbClr val="424242"/>
              </a:solidFill>
              <a:highlight>
                <a:srgbClr val="FFFFFF"/>
              </a:highlight>
            </a:endParaRPr>
          </a:p>
          <a:p>
            <a:pPr indent="0" lvl="0" marL="0" rtl="0" algn="l">
              <a:spcBef>
                <a:spcPts val="1500"/>
              </a:spcBef>
              <a:spcAft>
                <a:spcPts val="0"/>
              </a:spcAft>
              <a:buNone/>
            </a:pPr>
            <a:r>
              <a:rPr lang="en" sz="800">
                <a:solidFill>
                  <a:srgbClr val="424242"/>
                </a:solidFill>
                <a:highlight>
                  <a:srgbClr val="FFFFFF"/>
                </a:highlight>
              </a:rPr>
              <a:t>Campaign Engagement:</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Responded to Annual Event (Conference).</a:t>
            </a:r>
            <a:br>
              <a:rPr lang="en" sz="800">
                <a:solidFill>
                  <a:srgbClr val="424242"/>
                </a:solidFill>
                <a:highlight>
                  <a:srgbClr val="FFFFFF"/>
                </a:highlight>
              </a:rPr>
            </a:br>
            <a:endParaRPr sz="800">
              <a:solidFill>
                <a:srgbClr val="424242"/>
              </a:solidFill>
              <a:highlight>
                <a:srgbClr val="FFFFFF"/>
              </a:highlight>
            </a:endParaRPr>
          </a:p>
          <a:p>
            <a:pPr indent="0" lvl="0" marL="0" rtl="0" algn="l">
              <a:lnSpc>
                <a:spcPct val="140000"/>
              </a:lnSpc>
              <a:spcBef>
                <a:spcPts val="1500"/>
              </a:spcBef>
              <a:spcAft>
                <a:spcPts val="0"/>
              </a:spcAft>
              <a:buNone/>
            </a:pPr>
            <a:r>
              <a:rPr lang="en" sz="800">
                <a:solidFill>
                  <a:srgbClr val="424242"/>
                </a:solidFill>
                <a:highlight>
                  <a:srgbClr val="FFFFFF"/>
                </a:highlight>
              </a:rPr>
              <a:t>• Responded to the Annual Fundraising Mailing (Direct Mail).</a:t>
            </a:r>
            <a:endParaRPr sz="800">
              <a:solidFill>
                <a:srgbClr val="424242"/>
              </a:solidFill>
              <a:highlight>
                <a:srgbClr val="FFFFFF"/>
              </a:highlight>
            </a:endParaRPr>
          </a:p>
          <a:p>
            <a:pPr indent="0" lvl="0" marL="0" rtl="0" algn="l">
              <a:spcBef>
                <a:spcPts val="1500"/>
              </a:spcBef>
              <a:spcAft>
                <a:spcPts val="0"/>
              </a:spcAft>
              <a:buNone/>
            </a:pPr>
            <a:r>
              <a:rPr lang="en" sz="800">
                <a:solidFill>
                  <a:srgbClr val="424242"/>
                </a:solidFill>
                <a:highlight>
                  <a:srgbClr val="FFFFFF"/>
                </a:highlight>
              </a:rPr>
              <a:t>Relationships:</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Roberto Chase (Friend).</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Clementine (Coworker).</a:t>
            </a:r>
            <a:br>
              <a:rPr lang="en" sz="800">
                <a:solidFill>
                  <a:srgbClr val="424242"/>
                </a:solidFill>
                <a:highlight>
                  <a:srgbClr val="FFFFFF"/>
                </a:highlight>
              </a:rPr>
            </a:br>
            <a:endParaRPr sz="800">
              <a:solidFill>
                <a:srgbClr val="424242"/>
              </a:solidFill>
              <a:highlight>
                <a:srgbClr val="FFFFFF"/>
              </a:highlight>
            </a:endParaRPr>
          </a:p>
          <a:p>
            <a:pPr indent="0" lvl="0" marL="0" rtl="0" algn="l">
              <a:lnSpc>
                <a:spcPct val="140000"/>
              </a:lnSpc>
              <a:spcBef>
                <a:spcPts val="1500"/>
              </a:spcBef>
              <a:spcAft>
                <a:spcPts val="0"/>
              </a:spcAft>
              <a:buNone/>
            </a:pPr>
            <a:r>
              <a:rPr b="1" lang="en" sz="800">
                <a:solidFill>
                  <a:srgbClr val="424242"/>
                </a:solidFill>
                <a:highlight>
                  <a:srgbClr val="FFFFFF"/>
                </a:highlight>
              </a:rPr>
              <a:t>Note: Internal record descriptions contain unverified and inappropriate text; these have been excluded. Only the stated relationship types and reciprocal labels should be considered reliable.</a:t>
            </a:r>
            <a:endParaRPr b="1" sz="800">
              <a:solidFill>
                <a:srgbClr val="424242"/>
              </a:solidFill>
              <a:highlight>
                <a:srgbClr val="FFFFFF"/>
              </a:highlight>
            </a:endParaRPr>
          </a:p>
          <a:p>
            <a:pPr indent="0" lvl="0" marL="0" rtl="0" algn="l">
              <a:spcBef>
                <a:spcPts val="1500"/>
              </a:spcBef>
              <a:spcAft>
                <a:spcPts val="0"/>
              </a:spcAft>
              <a:buNone/>
            </a:pPr>
            <a:r>
              <a:rPr lang="en" sz="800">
                <a:solidFill>
                  <a:srgbClr val="424242"/>
                </a:solidFill>
                <a:highlight>
                  <a:srgbClr val="FFFFFF"/>
                </a:highlight>
              </a:rPr>
              <a:t>Suggested Meeting Approach:</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Open with a formal greeting: Countess Zorba Hansen.</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Focus on stewardship, emphasizing her long‑term reliability and commitment.</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Acknowledge her engagement with both the Annual Event and the direct‑mail campaigns.</a:t>
            </a:r>
            <a:br>
              <a:rPr lang="en" sz="800">
                <a:solidFill>
                  <a:srgbClr val="424242"/>
                </a:solidFill>
                <a:highlight>
                  <a:srgbClr val="FFFFFF"/>
                </a:highlight>
              </a:rPr>
            </a:b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Provide a brief update on current organizational impact and how steady annual donors like her help sustain long‑term work.</a:t>
            </a:r>
            <a:br>
              <a:rPr lang="en" sz="800">
                <a:solidFill>
                  <a:srgbClr val="424242"/>
                </a:solidFill>
                <a:highlight>
                  <a:srgbClr val="FFFFFF"/>
                </a:highlight>
              </a:rPr>
            </a:br>
            <a:endParaRPr sz="800">
              <a:solidFill>
                <a:srgbClr val="424242"/>
              </a:solidFill>
              <a:highlight>
                <a:srgbClr val="FFFFFF"/>
              </a:highlight>
            </a:endParaRPr>
          </a:p>
          <a:p>
            <a:pPr indent="0" lvl="0" marL="0" rtl="0" algn="l">
              <a:lnSpc>
                <a:spcPct val="140000"/>
              </a:lnSpc>
              <a:spcBef>
                <a:spcPts val="1500"/>
              </a:spcBef>
              <a:spcAft>
                <a:spcPts val="0"/>
              </a:spcAft>
              <a:buNone/>
            </a:pPr>
            <a:r>
              <a:rPr lang="en" sz="800">
                <a:solidFill>
                  <a:srgbClr val="424242"/>
                </a:solidFill>
                <a:highlight>
                  <a:srgbClr val="FFFFFF"/>
                </a:highlight>
              </a:rPr>
              <a:t>• Invite her thoughts on future involvement or areas of the mission that interest her.</a:t>
            </a:r>
            <a:endParaRPr sz="800">
              <a:solidFill>
                <a:srgbClr val="424242"/>
              </a:solidFill>
              <a:highlight>
                <a:srgbClr val="FFFFFF"/>
              </a:highlight>
            </a:endParaRPr>
          </a:p>
          <a:p>
            <a:pPr indent="0" lvl="0" marL="0" rtl="0" algn="l">
              <a:spcBef>
                <a:spcPts val="1500"/>
              </a:spcBef>
              <a:spcAft>
                <a:spcPts val="0"/>
              </a:spcAft>
              <a:buNone/>
            </a:pPr>
            <a:r>
              <a:rPr lang="en" sz="800">
                <a:solidFill>
                  <a:srgbClr val="424242"/>
                </a:solidFill>
                <a:highlight>
                  <a:srgbClr val="FFFFFF"/>
                </a:highlight>
              </a:rPr>
              <a:t>Overall Summary:</a:t>
            </a:r>
            <a:br>
              <a:rPr lang="en" sz="800">
                <a:solidFill>
                  <a:srgbClr val="424242"/>
                </a:solidFill>
                <a:highlight>
                  <a:srgbClr val="FFFFFF"/>
                </a:highlight>
              </a:rPr>
            </a:br>
            <a:endParaRPr sz="800">
              <a:solidFill>
                <a:srgbClr val="424242"/>
              </a:solidFill>
              <a:highlight>
                <a:srgbClr val="FFFFFF"/>
              </a:highlight>
            </a:endParaRPr>
          </a:p>
          <a:p>
            <a:pPr indent="0" lvl="0" marL="0" rtl="0" algn="l">
              <a:lnSpc>
                <a:spcPct val="140000"/>
              </a:lnSpc>
              <a:spcBef>
                <a:spcPts val="1500"/>
              </a:spcBef>
              <a:spcAft>
                <a:spcPts val="0"/>
              </a:spcAft>
              <a:buNone/>
            </a:pPr>
            <a:r>
              <a:rPr lang="en" sz="800">
                <a:solidFill>
                  <a:srgbClr val="424242"/>
                </a:solidFill>
                <a:highlight>
                  <a:srgbClr val="FFFFFF"/>
                </a:highlight>
              </a:rPr>
              <a:t>Countess Zorba Hansen is a loyal, consistent annual donor with a long history of fully realized gifts and participation in major outreach campaigns. A stewardship‑forward, appreciative conversation is the recommended strategy.</a:t>
            </a:r>
            <a:endParaRPr sz="800">
              <a:solidFill>
                <a:srgbClr val="424242"/>
              </a:solidFill>
              <a:highlight>
                <a:srgbClr val="FFFFFF"/>
              </a:highlight>
            </a:endParaRPr>
          </a:p>
          <a:p>
            <a:pPr indent="0" lvl="0" marL="0" rtl="0" algn="l">
              <a:spcBef>
                <a:spcPts val="0"/>
              </a:spcBef>
              <a:spcAft>
                <a:spcPts val="0"/>
              </a:spcAft>
              <a:buNone/>
            </a:pPr>
            <a:r>
              <a:t/>
            </a:r>
            <a:endParaRPr sz="1000">
              <a:solidFill>
                <a:schemeClr val="dk1"/>
              </a:solidFill>
              <a:latin typeface="Nunito"/>
              <a:ea typeface="Nunito"/>
              <a:cs typeface="Nunito"/>
              <a:sym typeface="Nuni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50350" y="226400"/>
            <a:ext cx="8510100" cy="469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Example Follow Up Chat</a:t>
            </a:r>
            <a:endParaRPr/>
          </a:p>
        </p:txBody>
      </p:sp>
      <p:sp>
        <p:nvSpPr>
          <p:cNvPr id="216" name="Google Shape;216;p36"/>
          <p:cNvSpPr txBox="1"/>
          <p:nvPr/>
        </p:nvSpPr>
        <p:spPr>
          <a:xfrm>
            <a:off x="606125" y="646275"/>
            <a:ext cx="872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424242"/>
                </a:solidFill>
                <a:highlight>
                  <a:srgbClr val="FFFFFF"/>
                </a:highlight>
              </a:rPr>
              <a:t>Please summarize the concerning things about this donor - this is not for a donor file, just for a conversation with the gift officer.</a:t>
            </a: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a:t>
            </a:r>
            <a:endParaRPr sz="1000">
              <a:solidFill>
                <a:schemeClr val="dk1"/>
              </a:solidFill>
              <a:latin typeface="Nunito"/>
              <a:ea typeface="Nunito"/>
              <a:cs typeface="Nunito"/>
              <a:sym typeface="Nunito"/>
            </a:endParaRPr>
          </a:p>
        </p:txBody>
      </p:sp>
      <p:sp>
        <p:nvSpPr>
          <p:cNvPr id="217" name="Google Shape;217;p36"/>
          <p:cNvSpPr txBox="1"/>
          <p:nvPr/>
        </p:nvSpPr>
        <p:spPr>
          <a:xfrm>
            <a:off x="299350" y="1077375"/>
            <a:ext cx="8612100" cy="7082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900">
                <a:solidFill>
                  <a:srgbClr val="424242"/>
                </a:solidFill>
                <a:highlight>
                  <a:srgbClr val="FFFFFF"/>
                </a:highlight>
              </a:rPr>
              <a:t>Here is a safe, high‑level summary you can use internally with the gift officer, without repeating or legitimizing any of the problematic content in the Salesforce records.</a:t>
            </a:r>
            <a:endParaRPr sz="900">
              <a:solidFill>
                <a:srgbClr val="424242"/>
              </a:solidFill>
              <a:highlight>
                <a:srgbClr val="FFFFFF"/>
              </a:highlight>
            </a:endParaRPr>
          </a:p>
          <a:p>
            <a:pPr indent="0" lvl="0" marL="0" rtl="0" algn="l">
              <a:spcBef>
                <a:spcPts val="1500"/>
              </a:spcBef>
              <a:spcAft>
                <a:spcPts val="0"/>
              </a:spcAft>
              <a:buNone/>
            </a:pPr>
            <a:r>
              <a:rPr lang="en" sz="900">
                <a:solidFill>
                  <a:srgbClr val="424242"/>
                </a:solidFill>
                <a:highlight>
                  <a:srgbClr val="FFFFFF"/>
                </a:highlight>
              </a:rPr>
              <a:t>Summary of Concerning Issues</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Several internal Salesforce descriptions contain </a:t>
            </a:r>
            <a:r>
              <a:rPr lang="en" sz="900">
                <a:solidFill>
                  <a:srgbClr val="111827"/>
                </a:solidFill>
                <a:highlight>
                  <a:srgbClr val="FFFFFF"/>
                </a:highlight>
              </a:rPr>
              <a:t>highly inappropriate, unverified, and potentially defamatory comments</a:t>
            </a:r>
            <a:r>
              <a:rPr lang="en" sz="900">
                <a:solidFill>
                  <a:srgbClr val="424242"/>
                </a:solidFill>
                <a:highlight>
                  <a:srgbClr val="FFFFFF"/>
                </a:highlight>
              </a:rPr>
              <a:t>.</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These notes appear to reflect </a:t>
            </a:r>
            <a:r>
              <a:rPr lang="en" sz="900">
                <a:solidFill>
                  <a:srgbClr val="111827"/>
                </a:solidFill>
                <a:highlight>
                  <a:srgbClr val="FFFFFF"/>
                </a:highlight>
              </a:rPr>
              <a:t>data‑entry issues</a:t>
            </a:r>
            <a:r>
              <a:rPr lang="en" sz="900">
                <a:solidFill>
                  <a:srgbClr val="424242"/>
                </a:solidFill>
                <a:highlight>
                  <a:srgbClr val="FFFFFF"/>
                </a:highlight>
              </a:rPr>
              <a:t>, not reliable donor information.</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Because these comments are neither factual nor professionally appropriate, they </a:t>
            </a:r>
            <a:r>
              <a:rPr lang="en" sz="900">
                <a:solidFill>
                  <a:srgbClr val="111827"/>
                </a:solidFill>
                <a:highlight>
                  <a:srgbClr val="FFFFFF"/>
                </a:highlight>
              </a:rPr>
              <a:t>should not influence donor strategy</a:t>
            </a:r>
            <a:r>
              <a:rPr lang="en" sz="900">
                <a:solidFill>
                  <a:srgbClr val="424242"/>
                </a:solidFill>
                <a:highlight>
                  <a:srgbClr val="FFFFFF"/>
                </a:highlight>
              </a:rPr>
              <a:t> and may indicate a need to clean or restrict free‑text fields in your CRM.</a:t>
            </a:r>
            <a:br>
              <a:rPr lang="en" sz="900">
                <a:solidFill>
                  <a:srgbClr val="424242"/>
                </a:solidFill>
                <a:highlight>
                  <a:srgbClr val="FFFFFF"/>
                </a:highlight>
              </a:rPr>
            </a:br>
            <a:endParaRPr sz="900">
              <a:solidFill>
                <a:srgbClr val="424242"/>
              </a:solidFill>
              <a:highlight>
                <a:srgbClr val="FFFFFF"/>
              </a:highlight>
            </a:endParaRPr>
          </a:p>
          <a:p>
            <a:pPr indent="0" lvl="0" marL="0" rtl="0" algn="l">
              <a:lnSpc>
                <a:spcPct val="115000"/>
              </a:lnSpc>
              <a:spcBef>
                <a:spcPts val="1500"/>
              </a:spcBef>
              <a:spcAft>
                <a:spcPts val="0"/>
              </a:spcAft>
              <a:buNone/>
            </a:pPr>
            <a:r>
              <a:rPr lang="en" sz="900">
                <a:solidFill>
                  <a:srgbClr val="424242"/>
                </a:solidFill>
                <a:highlight>
                  <a:srgbClr val="FFFFFF"/>
                </a:highlight>
              </a:rPr>
              <a:t>• A few gift descriptions include </a:t>
            </a:r>
            <a:r>
              <a:rPr lang="en" sz="900">
                <a:solidFill>
                  <a:srgbClr val="111827"/>
                </a:solidFill>
                <a:highlight>
                  <a:srgbClr val="FFFFFF"/>
                </a:highlight>
              </a:rPr>
              <a:t>behavioral red flags involving uncomfortable or unprofessional interactions</a:t>
            </a:r>
            <a:r>
              <a:rPr lang="en" sz="900">
                <a:solidFill>
                  <a:srgbClr val="424242"/>
                </a:solidFill>
                <a:highlight>
                  <a:srgbClr val="FFFFFF"/>
                </a:highlight>
              </a:rPr>
              <a:t> with staff. These entries are vague and need staff confirmation before being trusted.</a:t>
            </a:r>
            <a:endParaRPr sz="900">
              <a:solidFill>
                <a:srgbClr val="424242"/>
              </a:solidFill>
              <a:highlight>
                <a:srgbClr val="FFFFFF"/>
              </a:highlight>
            </a:endParaRPr>
          </a:p>
          <a:p>
            <a:pPr indent="0" lvl="0" marL="0" rtl="0" algn="l">
              <a:spcBef>
                <a:spcPts val="1500"/>
              </a:spcBef>
              <a:spcAft>
                <a:spcPts val="0"/>
              </a:spcAft>
              <a:buNone/>
            </a:pPr>
            <a:r>
              <a:rPr lang="en" sz="900">
                <a:solidFill>
                  <a:srgbClr val="424242"/>
                </a:solidFill>
                <a:highlight>
                  <a:srgbClr val="FFFFFF"/>
                </a:highlight>
              </a:rPr>
              <a:t>Practical Concerns to Discuss Internally</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If any staff have firsthand knowledge of uncomfortable interactions, a </a:t>
            </a:r>
            <a:r>
              <a:rPr lang="en" sz="900">
                <a:solidFill>
                  <a:srgbClr val="111827"/>
                </a:solidFill>
                <a:highlight>
                  <a:srgbClr val="FFFFFF"/>
                </a:highlight>
              </a:rPr>
              <a:t>safe‑engagement protocol</a:t>
            </a:r>
            <a:r>
              <a:rPr lang="en" sz="900">
                <a:solidFill>
                  <a:srgbClr val="424242"/>
                </a:solidFill>
                <a:highlight>
                  <a:srgbClr val="FFFFFF"/>
                </a:highlight>
              </a:rPr>
              <a:t> may be needed (two‑staff meetings, public locations, etc.).</a:t>
            </a:r>
            <a:br>
              <a:rPr lang="en" sz="900">
                <a:solidFill>
                  <a:srgbClr val="424242"/>
                </a:solidFill>
                <a:highlight>
                  <a:srgbClr val="FFFFFF"/>
                </a:highlight>
              </a:rPr>
            </a:br>
            <a:endParaRPr sz="900">
              <a:solidFill>
                <a:srgbClr val="424242"/>
              </a:solidFill>
              <a:highlight>
                <a:srgbClr val="FFFFFF"/>
              </a:highlight>
            </a:endParaRPr>
          </a:p>
          <a:p>
            <a:pPr indent="0" lvl="0" marL="0" rtl="0" algn="l">
              <a:lnSpc>
                <a:spcPct val="115000"/>
              </a:lnSpc>
              <a:spcBef>
                <a:spcPts val="1500"/>
              </a:spcBef>
              <a:spcAft>
                <a:spcPts val="0"/>
              </a:spcAft>
              <a:buNone/>
            </a:pPr>
            <a:r>
              <a:rPr lang="en" sz="900">
                <a:solidFill>
                  <a:srgbClr val="424242"/>
                </a:solidFill>
                <a:highlight>
                  <a:srgbClr val="FFFFFF"/>
                </a:highlight>
              </a:rPr>
              <a:t>• If none of the notes are corroborated, they should be treated as </a:t>
            </a:r>
            <a:r>
              <a:rPr lang="en" sz="900">
                <a:solidFill>
                  <a:srgbClr val="111827"/>
                </a:solidFill>
                <a:highlight>
                  <a:srgbClr val="FFFFFF"/>
                </a:highlight>
              </a:rPr>
              <a:t>bad or rogue data</a:t>
            </a:r>
            <a:r>
              <a:rPr lang="en" sz="900">
                <a:solidFill>
                  <a:srgbClr val="424242"/>
                </a:solidFill>
                <a:highlight>
                  <a:srgbClr val="FFFFFF"/>
                </a:highlight>
              </a:rPr>
              <a:t> and removed or sanitized.</a:t>
            </a:r>
            <a:endParaRPr sz="900">
              <a:solidFill>
                <a:srgbClr val="424242"/>
              </a:solidFill>
              <a:highlight>
                <a:srgbClr val="FFFFFF"/>
              </a:highlight>
            </a:endParaRPr>
          </a:p>
          <a:p>
            <a:pPr indent="0" lvl="0" marL="0" rtl="0" algn="l">
              <a:spcBef>
                <a:spcPts val="1500"/>
              </a:spcBef>
              <a:spcAft>
                <a:spcPts val="0"/>
              </a:spcAft>
              <a:buNone/>
            </a:pPr>
            <a:r>
              <a:rPr lang="en" sz="900">
                <a:solidFill>
                  <a:srgbClr val="424242"/>
                </a:solidFill>
                <a:highlight>
                  <a:srgbClr val="FFFFFF"/>
                </a:highlight>
              </a:rPr>
              <a:t>Engagement Recommendations</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Continue </a:t>
            </a:r>
            <a:r>
              <a:rPr lang="en" sz="900">
                <a:solidFill>
                  <a:srgbClr val="111827"/>
                </a:solidFill>
                <a:highlight>
                  <a:srgbClr val="FFFFFF"/>
                </a:highlight>
              </a:rPr>
              <a:t>light annual‑donor stewardship only</a:t>
            </a:r>
            <a:r>
              <a:rPr lang="en" sz="900">
                <a:solidFill>
                  <a:srgbClr val="424242"/>
                </a:solidFill>
                <a:highlight>
                  <a:srgbClr val="FFFFFF"/>
                </a:highlight>
              </a:rPr>
              <a:t> until staff confirm whether there were actual past incidents.</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Avoid elevating engagement (no cultivation for major gift levels, no leadership roles) until clarity is established.</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A </a:t>
            </a:r>
            <a:r>
              <a:rPr lang="en" sz="900">
                <a:solidFill>
                  <a:srgbClr val="111827"/>
                </a:solidFill>
                <a:highlight>
                  <a:srgbClr val="FFFFFF"/>
                </a:highlight>
              </a:rPr>
              <a:t>board seat is not recommended</a:t>
            </a:r>
            <a:r>
              <a:rPr lang="en" sz="900">
                <a:solidFill>
                  <a:srgbClr val="424242"/>
                </a:solidFill>
                <a:highlight>
                  <a:srgbClr val="FFFFFF"/>
                </a:highlight>
              </a:rPr>
              <a:t> due to:</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no record of leadership involvement</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inconsistent and unreliable internal notes</a:t>
            </a:r>
            <a:br>
              <a:rPr lang="en" sz="900">
                <a:solidFill>
                  <a:srgbClr val="424242"/>
                </a:solidFill>
                <a:highlight>
                  <a:srgbClr val="FFFFFF"/>
                </a:highlight>
              </a:rPr>
            </a:br>
            <a:endParaRPr sz="900">
              <a:solidFill>
                <a:srgbClr val="424242"/>
              </a:solidFill>
              <a:highlight>
                <a:srgbClr val="FFFFFF"/>
              </a:highlight>
            </a:endParaRPr>
          </a:p>
          <a:p>
            <a:pPr indent="0" lvl="0" marL="0" rtl="0" algn="l">
              <a:lnSpc>
                <a:spcPct val="115000"/>
              </a:lnSpc>
              <a:spcBef>
                <a:spcPts val="1500"/>
              </a:spcBef>
              <a:spcAft>
                <a:spcPts val="0"/>
              </a:spcAft>
              <a:buNone/>
            </a:pPr>
            <a:r>
              <a:rPr lang="en" sz="900">
                <a:solidFill>
                  <a:srgbClr val="424242"/>
                </a:solidFill>
                <a:highlight>
                  <a:srgbClr val="FFFFFF"/>
                </a:highlight>
              </a:rPr>
              <a:t>– potential historical behavioral concerns (pending verification)</a:t>
            </a:r>
            <a:endParaRPr sz="900">
              <a:solidFill>
                <a:srgbClr val="424242"/>
              </a:solidFill>
              <a:highlight>
                <a:srgbClr val="FFFFFF"/>
              </a:highlight>
            </a:endParaRPr>
          </a:p>
          <a:p>
            <a:pPr indent="0" lvl="0" marL="0" rtl="0" algn="l">
              <a:spcBef>
                <a:spcPts val="1500"/>
              </a:spcBef>
              <a:spcAft>
                <a:spcPts val="0"/>
              </a:spcAft>
              <a:buNone/>
            </a:pPr>
            <a:r>
              <a:rPr lang="en" sz="900">
                <a:solidFill>
                  <a:srgbClr val="424242"/>
                </a:solidFill>
                <a:highlight>
                  <a:srgbClr val="FFFFFF"/>
                </a:highlight>
              </a:rPr>
              <a:t>If you want, I can help draft:</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a CRM cleanup recommendation</a:t>
            </a:r>
            <a:br>
              <a:rPr lang="en" sz="900">
                <a:solidFill>
                  <a:srgbClr val="424242"/>
                </a:solidFill>
                <a:highlight>
                  <a:srgbClr val="FFFFFF"/>
                </a:highlight>
              </a:rPr>
            </a:br>
            <a:endParaRPr sz="900">
              <a:solidFill>
                <a:srgbClr val="424242"/>
              </a:solidFill>
              <a:highlight>
                <a:srgbClr val="FFFFFF"/>
              </a:highlight>
            </a:endParaRPr>
          </a:p>
          <a:p>
            <a:pPr indent="0" lvl="0" marL="0" rtl="0" algn="l">
              <a:spcBef>
                <a:spcPts val="0"/>
              </a:spcBef>
              <a:spcAft>
                <a:spcPts val="0"/>
              </a:spcAft>
              <a:buNone/>
            </a:pPr>
            <a:r>
              <a:rPr lang="en" sz="900">
                <a:solidFill>
                  <a:srgbClr val="424242"/>
                </a:solidFill>
                <a:highlight>
                  <a:srgbClr val="FFFFFF"/>
                </a:highlight>
              </a:rPr>
              <a:t>• a staff‑safety follow‑up plan</a:t>
            </a:r>
            <a:br>
              <a:rPr lang="en" sz="900">
                <a:solidFill>
                  <a:srgbClr val="424242"/>
                </a:solidFill>
                <a:highlight>
                  <a:srgbClr val="FFFFFF"/>
                </a:highlight>
              </a:rPr>
            </a:br>
            <a:endParaRPr sz="900">
              <a:solidFill>
                <a:srgbClr val="424242"/>
              </a:solidFill>
              <a:highlight>
                <a:srgbClr val="FFFFFF"/>
              </a:highlight>
            </a:endParaRPr>
          </a:p>
          <a:p>
            <a:pPr indent="0" lvl="0" marL="0" rtl="0" algn="l">
              <a:lnSpc>
                <a:spcPct val="115000"/>
              </a:lnSpc>
              <a:spcBef>
                <a:spcPts val="1500"/>
              </a:spcBef>
              <a:spcAft>
                <a:spcPts val="0"/>
              </a:spcAft>
              <a:buNone/>
            </a:pPr>
            <a:r>
              <a:rPr lang="en" sz="900">
                <a:solidFill>
                  <a:srgbClr val="424242"/>
                </a:solidFill>
                <a:highlight>
                  <a:srgbClr val="FFFFFF"/>
                </a:highlight>
              </a:rPr>
              <a:t>• a sanitized official donor‑file version, if needed.</a:t>
            </a:r>
            <a:endParaRPr sz="900">
              <a:solidFill>
                <a:srgbClr val="424242"/>
              </a:solidFill>
              <a:highlight>
                <a:srgbClr val="FFFFFF"/>
              </a:highlight>
            </a:endParaRPr>
          </a:p>
          <a:p>
            <a:pPr indent="0" lvl="0" marL="0" rtl="0" algn="l">
              <a:spcBef>
                <a:spcPts val="0"/>
              </a:spcBef>
              <a:spcAft>
                <a:spcPts val="0"/>
              </a:spcAft>
              <a:buNone/>
            </a:pPr>
            <a:r>
              <a:t/>
            </a:r>
            <a:endParaRPr sz="700">
              <a:solidFill>
                <a:schemeClr val="dk1"/>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350350" y="226400"/>
            <a:ext cx="8510100" cy="4692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Example of Prompt/Jason</a:t>
            </a:r>
            <a:endParaRPr/>
          </a:p>
        </p:txBody>
      </p:sp>
      <p:sp>
        <p:nvSpPr>
          <p:cNvPr id="223" name="Google Shape;223;p37"/>
          <p:cNvSpPr txBox="1"/>
          <p:nvPr/>
        </p:nvSpPr>
        <p:spPr>
          <a:xfrm>
            <a:off x="606125" y="646275"/>
            <a:ext cx="8724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424242"/>
                </a:solidFill>
                <a:highlight>
                  <a:srgbClr val="FFFFFF"/>
                </a:highlight>
              </a:rPr>
              <a:t>Please summarize the concerning things about this donor - this is not for a donor file, just for a conversation with the gift officer.</a:t>
            </a:r>
            <a:endParaRPr sz="800">
              <a:solidFill>
                <a:srgbClr val="424242"/>
              </a:solidFill>
              <a:highlight>
                <a:srgbClr val="FFFFFF"/>
              </a:highlight>
            </a:endParaRPr>
          </a:p>
          <a:p>
            <a:pPr indent="0" lvl="0" marL="0" rtl="0" algn="l">
              <a:spcBef>
                <a:spcPts val="0"/>
              </a:spcBef>
              <a:spcAft>
                <a:spcPts val="0"/>
              </a:spcAft>
              <a:buNone/>
            </a:pPr>
            <a:r>
              <a:rPr lang="en" sz="800">
                <a:solidFill>
                  <a:srgbClr val="424242"/>
                </a:solidFill>
                <a:highlight>
                  <a:srgbClr val="FFFFFF"/>
                </a:highlight>
              </a:rPr>
              <a:t> </a:t>
            </a:r>
            <a:endParaRPr sz="1000">
              <a:solidFill>
                <a:schemeClr val="dk1"/>
              </a:solidFill>
              <a:latin typeface="Nunito"/>
              <a:ea typeface="Nunito"/>
              <a:cs typeface="Nunito"/>
              <a:sym typeface="Nunito"/>
            </a:endParaRPr>
          </a:p>
        </p:txBody>
      </p:sp>
      <p:sp>
        <p:nvSpPr>
          <p:cNvPr id="224" name="Google Shape;224;p37"/>
          <p:cNvSpPr txBox="1"/>
          <p:nvPr/>
        </p:nvSpPr>
        <p:spPr>
          <a:xfrm>
            <a:off x="299350" y="1077375"/>
            <a:ext cx="8612100" cy="1265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424242"/>
                </a:solidFill>
                <a:highlight>
                  <a:srgbClr val="FFFFFF"/>
                </a:highlight>
              </a:rPr>
              <a:t>&lt;p&gt;Below is a list of Contact Info Relationships Opportunity Contact Roles relationships and Campaigns from responded campaign members from Salesforce NPSP contact.  Please write a summary of this person's history in the format of a donor brief I can share with our CEO/Development Officers so they can quickly prepare for a meeting. &lt;/p&gt;Name: Zorba Hansen Deceased? Alive Formal Greeting: Countess Zorba Hansen[{"attributes":{"type":"npe4__Relationship__c","url":"/services/data/v65.0/sobjects/npe4__Relationship__c/a0GfI000003qSEbUAM"},"CreatedById":"005fI000004KQVZQA4","CreatedDate":"2025-11-15T17:28:32.000+0000","Id":"a0GfI000003qSEbUAM","IsDeleted":false,"LastModifiedById":"005fI000004KQVZQA4","LastModifiedDate":"2025-11-15T17:28:32.000+0000","LastReferencedDate":"2025-11-15T17:28:32.000+0000","LastViewedDate":"2025-11-15T17:28:32.000+0000","Name":"R-000008","SystemModstamp":"2025-11-15T17:28:32.000+0000","npe4__Contact__c":"003fI00000AbitzQAB","npe4__Description__c":"Zorba and Roberto run a drug smuggling ring and probably make snuff films","npe4__ReciprocalRelationship__c":"a0GfI000003qSEcUAM","npe4__RelatedContact__c":"003fI00000AbjWkQAJ","npe4__Relationship_Explanation__c":"Roberto Chase  is  Zorba Hansen's Friend","npe4__SYSTEM_SystemCreated__c":false,"npe4__Status__c":"Current","npe4__Type__c":"Friend","npsp__Related_Opportunity_Contact_Role__c":null},{"attributes":{"type":"npe4__Relationship__c","url":"/services/data/v65.0/sobjects/npe4__Relationship__c/a0GfI000003qSHpUAM"},"CreatedById":"005fI000004KQVZQA4","CreatedDate":"2025-11-15T17:29:45.000+0000","Id":"a0GfI000003qSHpUAM","IsDeleted":false,"LastModifiedById":"005fI000004KQVZQA4","LastModifiedDate":"2025-11-15T17:29:45.000+0000","LastReferencedDate":"2025-11-15T17:29:45.000+0000","LastViewedDate":"2025-11-15T17:29:45.000+0000","Name":"R-000010","SystemModstamp":"2025-11-15T17:29:45.000+0000","npe4__Contact__c":"003fI00000AbitzQAB","npe4__Description__c":"Zorba is also Clementines ex spouse but it's likely a green card scam marriage","npe4__ReciprocalRelationship__c":"a0GfI000003qSHqUAM","npe4__RelatedContact__c":"003fI00000AbliBQAR","npe4__Relationship_Explanation__c":"Clementine Chernobyl  is  Zorba Hansen's Coworker","npe4__SYSTEM_SystemCreated__c":false,"npe4__Status__c":"Current","npe4__Type__c":"Coworker","npsp__Related_Opportunity_Contact_Role__c":null}][{"attributes":{"type":"Campaign"},"Type":{"value":"Conference"},"Description":"","EndDate":"2025-10-31","Name":"Annual Event 🎡"},{"attributes":{"type":"Campaign"},"Type":{"value":"Direct Mail"},"Description":"","EndDate":null,"Name":"Annual Fundraising Mailing"}]&lt;p&gt;Our org's sales processes are defined here&lt;/p&gt;&lt;p&gt;Donation sales process &lt;/p&gt;&lt;p&gt;Pledged = made a written commitment - most pledges are collected 95% of the time but  cash in is based on the first payment date vs the last payment date&lt;/p&gt;&lt;p&gt;Closed/Won = All cash has been collected&lt;/p&gt;&lt;p&gt;Declined = This means the donor originally pledged the gift but reneged on the obligation - it's unlikely this donor would give again unless the closed lost reason field indicates otherwise&lt;/p&gt;&lt;p&gt;&lt;br&gt;&lt;/p&gt;&lt;p&gt;Grant Sales Process&lt;/p&gt;&lt;p&gt;Prospecting  = We have not engaged with  the donor we're doing research&lt;/p&gt;&lt;p&gt;LOI Submitted = We've submitted a letter of intent by some means formal or informal&lt;/p&gt;&lt;p&gt;Application Submitted = The grant has been applied for, either the donor has given a go-ahead on the LOI or there was an open application process&lt;/p&gt;&lt;p&gt;Awarded = Closed/Won &lt;/p&gt;&lt;p&gt;Withdrawn = We have decided to withdraw our application  - refer to the closed lost/reason field for context on the strength of our relationship &lt;/p&gt;&lt;p&gt;Declined = In this context it means the donor has said no on our application, we may have lost the grant to another nonprofit but its possible the grant was cancelled see the closed lost reason for context&lt;/p&gt;&lt;p&gt;&lt;br&gt;&lt;/p&gt;&lt;p&gt;Major Gift Sales process&lt;/p&gt;&lt;p&gt;similar to donation sales process with these differences - major gifts generally take more effort to cultivate over a longer period &lt;/p&gt;&lt;p&gt;Identification = We're thinking of doing research on this donor&lt;/p&gt;&lt;p&gt;Qualification = we're doing research&lt;/p&gt;&lt;p&gt;Cultivation = &lt;span style="background-color: rgb(255, 255, 255);"&gt; same as prospecting&lt;/span&gt;&lt;/p&gt;&lt;p&gt;Solicitation = we've made an ask&lt;/p&gt;&lt;p&gt;Proposal/Review = we're negotiating the ask&lt;/p&gt;&lt;p&gt;Verbal Commitment = we got a commitment that is not legally binding - this is not a grant so there's no "pledged" stage&lt;/p&gt;&lt;p&gt;Awarded = This means we've received a written commitment or at least partial payment&lt;/p&gt;&lt;p&gt;Closed Won = same as above&lt;/p&gt;&lt;p&gt;Withdrawn = same as above&lt;/p&gt;&lt;p&gt;Declined = same as above&lt;/p&gt;[{"attributes":{"type":"Opportunity"},"npsp__Closed_Lost_Reason__c":"","Description":"","StageName":{"value":"Closed Won"},"Amount":1000.0,"npsp__In_Kind_Type__c":{"value":""},"Probability":100.0,"CloseDate":"2009-12-12","Name":"Annual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Won"},"Amount":1000.0,"npsp__In_Kind_Type__c":{"value":""},"Probability":100.0,"CloseDate":"2016-12-12","Name":"Annual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Won"},"Amount":1000.0,"npsp__In_Kind_Type__c":{"value":""},"Probability":100.0,"CloseDate":"2011-12-12","Name":"Annual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Won"},"Amount":1000.0,"npsp__In_Kind_Type__c":{"value":""},"Probability":100.0,"CloseDate":"2014-12-12","Name":"Annual Giving","npsp__Gift_Strategy__c":{"value":""},"Type":{"value":""},"npsp__Grant_Contract_Date__c":null,"npsp__Grant_Period_End_Date__c":null,"npe01__Contact_Id_for_Role__c":"Donor","npsp__Ask_Date__c":null,"npsp__Grant_Period_Start_Date__c":null},{"attributes":{"type":"Opportunity"},"npsp__Closed_Lost_Reason__c":"","Description":"Felt bad about last years assault - added $25 for our trouble","StageName":{"value":"Closed Won"},"Amount":1025.0,"npsp__In_Kind_Type__c":{"value":""},"Probability":100.0,"CloseDate":"2011-12-12","Name":"Annual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Won"},"Amount":1000.0,"npsp__In_Kind_Type__c":{"value":""},"Probability":100.0,"CloseDate":"2015-12-12","Name":"Annual Giving","npsp__Gift_Strategy__c":{"value":""},"Type":{"value":""},"npsp__Grant_Contract_Date__c":null,"npsp__Grant_Period_End_Date__c":null,"npe01__Contact_Id_for_Role__c":"Donor","npsp__Ask_Date__c":null,"npsp__Grant_Period_Start_Date__c":null},{"attributes":{"type":"Opportunity"},"npsp__Closed_Lost_Reason__c":"","Description":"Out  of prison, made lots of cash turning girls out while there","StageName":{"value":"Closed Won"},"Amount":1000.0,"npsp__In_Kind_Type__c":{"value":""},"Probability":100.0,"CloseDate":"2024-12-12","Name":"Annual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Won"},"Amount":1000.0,"npsp__In_Kind_Type__c":{"value":""},"Probability":100.0,"CloseDate":"2017-12-12","Name":"Annual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Won"},"Amount":1000.0,"npsp__In_Kind_Type__c":{"value":""},"Probability":100.0,"CloseDate":"2012-12-12","Name":"Annual Giving","npsp__Gift_Strategy__c":{"value":""},"Type":{"value":""},"npsp__Grant_Contract_Date__c":null,"npsp__Grant_Period_End_Date__c":null,"npe01__Contact_Id_for_Role__c":"Donor","npsp__Ask_Date__c":null,"npsp__Grant_Period_Start_Date__c":null},{"attributes":{"type":"Opportunity"},"npsp__Closed_Lost_Reason__c":"","Description":"Zorba gave us this gift because she extorted money from Donald Trump and we definitely didn't promise to cover it up","StageName":{"value":"Closed Won"},"Amount":50000.0,"npsp__In_Kind_Type__c":{"value":""},"Probability":100.0,"CloseDate":"2007-11-14","Name":"Big Gift","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Won"},"Amount":1000.0,"npsp__In_Kind_Type__c":{"value":""},"Probability":100.0,"CloseDate":"2008-12-12","Name":"Annual Giving","npsp__Gift_Strategy__c":{"value":""},"Type":{"value":""},"npsp__Grant_Contract_Date__c":null,"npsp__Grant_Period_End_Date__c":null,"npe01__Contact_Id_for_Role__c":"Donor","npsp__Ask_Date__c":null,"npsp__Grant_Period_Start_Date__c":null},{"attributes":{"type":"Opportunity"},"npsp__Closed_Lost_Reason__c":"","Description":"Kissed our development officer inappropriately be sure to keep the bear spray on hand next time","StageName":{"value":"Closed Won"},"Amount":1000.0,"npsp__In_Kind_Type__c":{"value":""},"Probability":100.0,"CloseDate":"2010-12-12","Name":"Annual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Won"},"Amount":1000.0,"npsp__In_Kind_Type__c":{"value":""},"Probability":100.0,"CloseDate":"2013-12-12","Name":"Annual Giving","npsp__Gift_Strategy__c":{"value":""},"Type":{"value":""},"npsp__Grant_Contract_Date__c":null,"npsp__Grant_Period_End_Date__c":null,"npe01__Contact_Id_for_Role__c":"Donor","npsp__Ask_Date__c":null,"npsp__Grant_Period_Start_Date__c":null},{"attributes":{"type":"Opportunity"},"npsp__Closed_Lost_Reason__c":"","Description":"","StageName":{"value":"Closed Won"},"Amount":1000.0,"npsp__In_Kind_Type__c":{"value":""},"Probability":100.0,"CloseDate":"2019-12-12","Name":"Annual Giving","npsp__Gift_Strategy__c":{"value":""},"Type":{"value":""},"npsp__Grant_Contract_Date__c":null,"npsp__Grant_Period_End_Date__c":null,"npe01__Contact_Id_for_Role__c":"Donor","npsp__Ask_Date__c":null,"npsp__Grant_Period_Start_Date__c":null}]</a:t>
            </a:r>
            <a:endParaRPr sz="700">
              <a:solidFill>
                <a:schemeClr val="dk1"/>
              </a:solidFill>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Quarterly business review">
  <a:themeElements>
    <a:clrScheme name="Simple Light">
      <a:dk1>
        <a:srgbClr val="131313"/>
      </a:dk1>
      <a:lt1>
        <a:srgbClr val="FAFAFA"/>
      </a:lt1>
      <a:dk2>
        <a:srgbClr val="B5B5B7"/>
      </a:dk2>
      <a:lt2>
        <a:srgbClr val="EAE1E2"/>
      </a:lt2>
      <a:accent1>
        <a:srgbClr val="7D57AE"/>
      </a:accent1>
      <a:accent2>
        <a:srgbClr val="E8C8C7"/>
      </a:accent2>
      <a:accent3>
        <a:srgbClr val="2F5C7C"/>
      </a:accent3>
      <a:accent4>
        <a:srgbClr val="DECEE8"/>
      </a:accent4>
      <a:accent5>
        <a:srgbClr val="B0BFDE"/>
      </a:accent5>
      <a:accent6>
        <a:srgbClr val="DDEAFB"/>
      </a:accent6>
      <a:hlink>
        <a:srgbClr val="2F5C7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